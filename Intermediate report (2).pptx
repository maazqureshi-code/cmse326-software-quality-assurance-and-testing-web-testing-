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media/image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0" r:id="rId4"/>
    <p:sldId id="261" r:id="rId5"/>
    <p:sldId id="262" r:id="rId6"/>
    <p:sldId id="275" r:id="rId7"/>
    <p:sldId id="263" r:id="rId8"/>
    <p:sldId id="264" r:id="rId9"/>
    <p:sldId id="265" r:id="rId10"/>
    <p:sldId id="266" r:id="rId11"/>
    <p:sldId id="269" r:id="rId12"/>
    <p:sldId id="271" r:id="rId13"/>
    <p:sldId id="273" r:id="rId14"/>
    <p:sldId id="278" r:id="rId15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customXml" Target="../customXml/item3.xml"/><Relationship Id="rId20" Type="http://schemas.openxmlformats.org/officeDocument/2006/relationships/customXml" Target="../customXml/item2.xml"/><Relationship Id="rId2" Type="http://schemas.openxmlformats.org/officeDocument/2006/relationships/theme" Target="theme/theme1.xml"/><Relationship Id="rId19" Type="http://schemas.openxmlformats.org/officeDocument/2006/relationships/customXml" Target="../customXml/item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D898E4-DD7B-4EC5-861D-32724B0FB7D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49B935B-732F-40F4-AAD6-3CBC64BFB572}">
      <dgm:prSet/>
      <dgm:spPr/>
      <dgm:t>
        <a:bodyPr/>
        <a:lstStyle/>
        <a:p>
          <a:r>
            <a:rPr lang="en-GB" dirty="0">
              <a:latin typeface="Times New Roman" panose="02020603050405020304"/>
              <a:cs typeface="Times New Roman" panose="02020603050405020304"/>
            </a:rPr>
            <a:t>The testing was evaluated using </a:t>
          </a:r>
          <a:r>
            <a:rPr lang="en-GB" dirty="0" err="1">
              <a:latin typeface="Times New Roman" panose="02020603050405020304"/>
              <a:cs typeface="Times New Roman" panose="02020603050405020304"/>
            </a:rPr>
            <a:t>GTmetrix</a:t>
          </a:r>
          <a:endParaRPr lang="en-US" dirty="0" err="1">
            <a:latin typeface="Times New Roman" panose="02020603050405020304"/>
            <a:cs typeface="Times New Roman" panose="02020603050405020304"/>
          </a:endParaRPr>
        </a:p>
      </dgm:t>
    </dgm:pt>
    <dgm:pt modelId="{6D6D9F94-402C-4FEF-B5B5-A224CA3E0AFE}" cxnId="{4A672E99-52D4-4B97-A678-6E0E8E26BCC2}" type="parTrans">
      <dgm:prSet/>
      <dgm:spPr/>
      <dgm:t>
        <a:bodyPr/>
        <a:lstStyle/>
        <a:p>
          <a:endParaRPr lang="en-US"/>
        </a:p>
      </dgm:t>
    </dgm:pt>
    <dgm:pt modelId="{85D06F7D-153D-41C2-A7D9-75802424CA55}" cxnId="{4A672E99-52D4-4B97-A678-6E0E8E26BCC2}" type="sibTrans">
      <dgm:prSet/>
      <dgm:spPr/>
      <dgm:t>
        <a:bodyPr/>
        <a:lstStyle/>
        <a:p>
          <a:endParaRPr lang="en-US"/>
        </a:p>
      </dgm:t>
    </dgm:pt>
    <dgm:pt modelId="{A8696D95-2FE5-4507-AAAB-8D07453037A1}">
      <dgm:prSet/>
      <dgm:spPr/>
      <dgm:t>
        <a:bodyPr/>
        <a:lstStyle/>
        <a:p>
          <a:r>
            <a:rPr lang="en-GB" b="1" dirty="0">
              <a:latin typeface="Times New Roman" panose="02020603050405020304"/>
              <a:cs typeface="Times New Roman" panose="02020603050405020304"/>
            </a:rPr>
            <a:t>Performance Grade (A)</a:t>
          </a:r>
          <a:r>
            <a:rPr lang="en-GB" dirty="0">
              <a:latin typeface="Times New Roman" panose="02020603050405020304"/>
              <a:cs typeface="Times New Roman" panose="02020603050405020304"/>
            </a:rPr>
            <a:t>: </a:t>
          </a:r>
          <a:endParaRPr lang="en-US" dirty="0">
            <a:latin typeface="Times New Roman" panose="02020603050405020304"/>
            <a:cs typeface="Times New Roman" panose="02020603050405020304"/>
          </a:endParaRPr>
        </a:p>
      </dgm:t>
    </dgm:pt>
    <dgm:pt modelId="{1DF27073-671C-48A1-96EA-18E09A4DBA86}" cxnId="{54269AE2-5C1C-450C-84C5-271D55D9FFE3}" type="parTrans">
      <dgm:prSet/>
      <dgm:spPr/>
      <dgm:t>
        <a:bodyPr/>
        <a:lstStyle/>
        <a:p>
          <a:endParaRPr lang="en-US"/>
        </a:p>
      </dgm:t>
    </dgm:pt>
    <dgm:pt modelId="{34DFAFA2-7F7D-4E71-AF47-F6BA93374DEC}" cxnId="{54269AE2-5C1C-450C-84C5-271D55D9FFE3}" type="sibTrans">
      <dgm:prSet/>
      <dgm:spPr/>
      <dgm:t>
        <a:bodyPr/>
        <a:lstStyle/>
        <a:p>
          <a:endParaRPr lang="en-US"/>
        </a:p>
      </dgm:t>
    </dgm:pt>
    <dgm:pt modelId="{81B77344-5E1C-4C8A-AC68-D2A80DD16158}">
      <dgm:prSet/>
      <dgm:spPr/>
      <dgm:t>
        <a:bodyPr/>
        <a:lstStyle/>
        <a:p>
          <a:r>
            <a:rPr lang="en-GB" b="1" dirty="0">
              <a:latin typeface="Times New Roman" panose="02020603050405020304"/>
              <a:cs typeface="Times New Roman" panose="02020603050405020304"/>
            </a:rPr>
            <a:t>Performance Score (91%)</a:t>
          </a:r>
          <a:r>
            <a:rPr lang="en-GB" dirty="0">
              <a:latin typeface="Times New Roman" panose="02020603050405020304"/>
              <a:cs typeface="Times New Roman" panose="02020603050405020304"/>
            </a:rPr>
            <a:t>: This is a solid score, showing that the website is very fast and optimized.</a:t>
          </a:r>
          <a:endParaRPr lang="en-US" dirty="0">
            <a:latin typeface="Times New Roman" panose="02020603050405020304"/>
            <a:cs typeface="Times New Roman" panose="02020603050405020304"/>
          </a:endParaRPr>
        </a:p>
      </dgm:t>
    </dgm:pt>
    <dgm:pt modelId="{C224768B-7746-4374-8812-EE309F8358C9}" cxnId="{3D4CF296-4A36-4640-826D-8438DF0D20F0}" type="parTrans">
      <dgm:prSet/>
      <dgm:spPr/>
      <dgm:t>
        <a:bodyPr/>
        <a:lstStyle/>
        <a:p>
          <a:endParaRPr lang="en-US"/>
        </a:p>
      </dgm:t>
    </dgm:pt>
    <dgm:pt modelId="{5F55E610-883F-4356-BD00-E4D6E2463505}" cxnId="{3D4CF296-4A36-4640-826D-8438DF0D20F0}" type="sibTrans">
      <dgm:prSet/>
      <dgm:spPr/>
      <dgm:t>
        <a:bodyPr/>
        <a:lstStyle/>
        <a:p>
          <a:endParaRPr lang="en-US"/>
        </a:p>
      </dgm:t>
    </dgm:pt>
    <dgm:pt modelId="{DFBCBFFE-FBA7-48E9-880C-69BBBF1CA876}">
      <dgm:prSet/>
      <dgm:spPr/>
      <dgm:t>
        <a:bodyPr/>
        <a:lstStyle/>
        <a:p>
          <a:r>
            <a:rPr lang="en-GB" b="1" dirty="0">
              <a:latin typeface="Times New Roman" panose="02020603050405020304"/>
              <a:cs typeface="Times New Roman" panose="02020603050405020304"/>
            </a:rPr>
            <a:t>Structure Score (98%)</a:t>
          </a:r>
          <a:r>
            <a:rPr lang="en-GB" dirty="0">
              <a:latin typeface="Times New Roman" panose="02020603050405020304"/>
              <a:cs typeface="Times New Roman" panose="02020603050405020304"/>
            </a:rPr>
            <a:t>: Almost perfect!</a:t>
          </a:r>
          <a:endParaRPr lang="en-US" dirty="0">
            <a:latin typeface="Times New Roman" panose="02020603050405020304"/>
            <a:cs typeface="Times New Roman" panose="02020603050405020304"/>
          </a:endParaRPr>
        </a:p>
      </dgm:t>
    </dgm:pt>
    <dgm:pt modelId="{935C3254-C751-4A2A-8ED2-10896DC0AB2B}" cxnId="{A158323B-0D85-4000-8D08-21DA3BAF35DD}" type="parTrans">
      <dgm:prSet/>
      <dgm:spPr/>
      <dgm:t>
        <a:bodyPr/>
        <a:lstStyle/>
        <a:p>
          <a:endParaRPr lang="en-US"/>
        </a:p>
      </dgm:t>
    </dgm:pt>
    <dgm:pt modelId="{AB82DCC6-4951-4E84-BAEA-0FF75E6A033E}" cxnId="{A158323B-0D85-4000-8D08-21DA3BAF35DD}" type="sibTrans">
      <dgm:prSet/>
      <dgm:spPr/>
      <dgm:t>
        <a:bodyPr/>
        <a:lstStyle/>
        <a:p>
          <a:endParaRPr lang="en-US"/>
        </a:p>
      </dgm:t>
    </dgm:pt>
    <dgm:pt modelId="{C29BC9DA-7735-4380-B389-AC1A8146D37B}">
      <dgm:prSet/>
      <dgm:spPr/>
      <dgm:t>
        <a:bodyPr/>
        <a:lstStyle/>
        <a:p>
          <a:r>
            <a:rPr lang="en-GB" dirty="0">
              <a:latin typeface="Times New Roman" panose="02020603050405020304"/>
              <a:cs typeface="Times New Roman" panose="02020603050405020304"/>
            </a:rPr>
            <a:t>Page Size (1.46 MB)The page size is well-optimized for quick loading.</a:t>
          </a:r>
          <a:endParaRPr lang="en-US" dirty="0">
            <a:latin typeface="Times New Roman" panose="02020603050405020304"/>
            <a:cs typeface="Times New Roman" panose="02020603050405020304"/>
          </a:endParaRPr>
        </a:p>
      </dgm:t>
    </dgm:pt>
    <dgm:pt modelId="{CA551B22-909A-47CE-887C-4D9A53AC1C5D}" cxnId="{43FBDED2-FD8F-417C-8A20-2BC1D150A5E4}" type="parTrans">
      <dgm:prSet/>
      <dgm:spPr/>
      <dgm:t>
        <a:bodyPr/>
        <a:lstStyle/>
        <a:p>
          <a:endParaRPr lang="en-US"/>
        </a:p>
      </dgm:t>
    </dgm:pt>
    <dgm:pt modelId="{FEAE5D26-E19F-493B-9B80-EA3327813858}" cxnId="{43FBDED2-FD8F-417C-8A20-2BC1D150A5E4}" type="sibTrans">
      <dgm:prSet/>
      <dgm:spPr/>
      <dgm:t>
        <a:bodyPr/>
        <a:lstStyle/>
        <a:p>
          <a:endParaRPr lang="en-US"/>
        </a:p>
      </dgm:t>
    </dgm:pt>
    <dgm:pt modelId="{AB448FB3-20E1-4B02-9C5E-6EB909D42A52}">
      <dgm:prSet/>
      <dgm:spPr/>
      <dgm:t>
        <a:bodyPr/>
        <a:lstStyle/>
        <a:p>
          <a:r>
            <a:rPr lang="en-GB" b="1" dirty="0">
              <a:latin typeface="Times New Roman" panose="02020603050405020304"/>
              <a:cs typeface="Times New Roman" panose="02020603050405020304"/>
            </a:rPr>
            <a:t>38 Requests</a:t>
          </a:r>
          <a:r>
            <a:rPr lang="en-GB" dirty="0">
              <a:latin typeface="Times New Roman" panose="02020603050405020304"/>
              <a:cs typeface="Times New Roman" panose="02020603050405020304"/>
            </a:rPr>
            <a:t>: The number of requests is relatively low, contributing to a fast loading time.</a:t>
          </a:r>
          <a:endParaRPr lang="en-US" dirty="0">
            <a:latin typeface="Times New Roman" panose="02020603050405020304"/>
            <a:cs typeface="Times New Roman" panose="02020603050405020304"/>
          </a:endParaRPr>
        </a:p>
      </dgm:t>
    </dgm:pt>
    <dgm:pt modelId="{E36D8F79-F648-4BFC-84C6-BA5A3C626955}" cxnId="{141098F5-A055-4451-B918-D8E5CFE4C110}" type="parTrans">
      <dgm:prSet/>
      <dgm:spPr/>
      <dgm:t>
        <a:bodyPr/>
        <a:lstStyle/>
        <a:p>
          <a:endParaRPr lang="en-US"/>
        </a:p>
      </dgm:t>
    </dgm:pt>
    <dgm:pt modelId="{56494A12-67B5-4658-9FA0-71B5D13AD031}" cxnId="{141098F5-A055-4451-B918-D8E5CFE4C110}" type="sibTrans">
      <dgm:prSet/>
      <dgm:spPr/>
      <dgm:t>
        <a:bodyPr/>
        <a:lstStyle/>
        <a:p>
          <a:endParaRPr lang="en-US"/>
        </a:p>
      </dgm:t>
    </dgm:pt>
    <dgm:pt modelId="{CCF05572-08F2-41E3-A795-064AF7040577}">
      <dgm:prSet/>
      <dgm:spPr/>
      <dgm:t>
        <a:bodyPr/>
        <a:lstStyle/>
        <a:p>
          <a:r>
            <a:rPr lang="en-GB" b="1" dirty="0">
              <a:latin typeface="Times New Roman" panose="02020603050405020304"/>
              <a:cs typeface="Times New Roman" panose="02020603050405020304"/>
            </a:rPr>
            <a:t>Total Load Time (0.8 seconds)</a:t>
          </a:r>
          <a:r>
            <a:rPr lang="en-GB" dirty="0">
              <a:latin typeface="Times New Roman" panose="02020603050405020304"/>
              <a:cs typeface="Times New Roman" panose="02020603050405020304"/>
            </a:rPr>
            <a:t>: Very fast! This is excellent for user engagement.</a:t>
          </a:r>
          <a:endParaRPr lang="en-US" dirty="0">
            <a:latin typeface="Times New Roman" panose="02020603050405020304"/>
            <a:cs typeface="Times New Roman" panose="02020603050405020304"/>
          </a:endParaRPr>
        </a:p>
      </dgm:t>
    </dgm:pt>
    <dgm:pt modelId="{38FB1C1E-6EB2-4F2D-A83D-1962F64A507C}" cxnId="{6EA3C1AC-0F16-4B59-A5CF-4C0D0566C9E0}" type="parTrans">
      <dgm:prSet/>
      <dgm:spPr/>
      <dgm:t>
        <a:bodyPr/>
        <a:lstStyle/>
        <a:p>
          <a:endParaRPr lang="en-US"/>
        </a:p>
      </dgm:t>
    </dgm:pt>
    <dgm:pt modelId="{EB5D52F3-3E17-49A4-9EB1-D597BA75E284}" cxnId="{6EA3C1AC-0F16-4B59-A5CF-4C0D0566C9E0}" type="sibTrans">
      <dgm:prSet/>
      <dgm:spPr/>
      <dgm:t>
        <a:bodyPr/>
        <a:lstStyle/>
        <a:p>
          <a:endParaRPr lang="en-US"/>
        </a:p>
      </dgm:t>
    </dgm:pt>
    <dgm:pt modelId="{88BA36C0-2C8E-42DA-9E7C-4ED2794B4B75}" type="pres">
      <dgm:prSet presAssocID="{6AD898E4-DD7B-4EC5-861D-32724B0FB7D6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C34578F-4EA2-4F8C-B895-491270BD0377}" type="pres">
      <dgm:prSet presAssocID="{849B935B-732F-40F4-AAD6-3CBC64BFB572}" presName="parentText" presStyleLbl="node1" presStyleIdx="0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9A7F7A4-F6A3-422F-BD53-9F7266060041}" type="pres">
      <dgm:prSet presAssocID="{85D06F7D-153D-41C2-A7D9-75802424CA55}" presName="spacer" presStyleCnt="0"/>
      <dgm:spPr/>
    </dgm:pt>
    <dgm:pt modelId="{D11FCE35-D352-41A2-B8E3-493F5E1FF696}" type="pres">
      <dgm:prSet presAssocID="{A8696D95-2FE5-4507-AAAB-8D07453037A1}" presName="parentText" presStyleLbl="node1" presStyleIdx="1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400E3BD-1F82-4ADA-A623-C90846D6AB0E}" type="pres">
      <dgm:prSet presAssocID="{34DFAFA2-7F7D-4E71-AF47-F6BA93374DEC}" presName="spacer" presStyleCnt="0"/>
      <dgm:spPr/>
    </dgm:pt>
    <dgm:pt modelId="{BDF3D0F9-C151-49CF-8A25-7DC17E1101E2}" type="pres">
      <dgm:prSet presAssocID="{81B77344-5E1C-4C8A-AC68-D2A80DD16158}" presName="parentText" presStyleLbl="node1" presStyleIdx="2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9F8942B-8D1B-41B3-856E-8B9D8030E543}" type="pres">
      <dgm:prSet presAssocID="{5F55E610-883F-4356-BD00-E4D6E2463505}" presName="spacer" presStyleCnt="0"/>
      <dgm:spPr/>
    </dgm:pt>
    <dgm:pt modelId="{C3C142B3-D73D-4214-93E3-6709127808AD}" type="pres">
      <dgm:prSet presAssocID="{DFBCBFFE-FBA7-48E9-880C-69BBBF1CA876}" presName="parentText" presStyleLbl="node1" presStyleIdx="3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A7204B2-45FF-4713-A793-8879C73F0FC9}" type="pres">
      <dgm:prSet presAssocID="{AB82DCC6-4951-4E84-BAEA-0FF75E6A033E}" presName="spacer" presStyleCnt="0"/>
      <dgm:spPr/>
    </dgm:pt>
    <dgm:pt modelId="{37C77CE4-617C-4F49-A475-290F16B7ED58}" type="pres">
      <dgm:prSet presAssocID="{C29BC9DA-7735-4380-B389-AC1A8146D37B}" presName="parentText" presStyleLbl="node1" presStyleIdx="4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13471A6-9F4A-45BF-B5E0-90F5CEE4AEDC}" type="pres">
      <dgm:prSet presAssocID="{FEAE5D26-E19F-493B-9B80-EA3327813858}" presName="spacer" presStyleCnt="0"/>
      <dgm:spPr/>
    </dgm:pt>
    <dgm:pt modelId="{E2FD9BA6-C6EA-4EF9-9B31-D40DDA426D24}" type="pres">
      <dgm:prSet presAssocID="{AB448FB3-20E1-4B02-9C5E-6EB909D42A52}" presName="parentText" presStyleLbl="node1" presStyleIdx="5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FFAC530-2A1A-43D1-862E-C7BE0E48BA68}" type="pres">
      <dgm:prSet presAssocID="{56494A12-67B5-4658-9FA0-71B5D13AD031}" presName="spacer" presStyleCnt="0"/>
      <dgm:spPr/>
    </dgm:pt>
    <dgm:pt modelId="{11744E0B-042D-4948-A39D-76DA77CE8D12}" type="pres">
      <dgm:prSet presAssocID="{CCF05572-08F2-41E3-A795-064AF7040577}" presName="parentText" presStyleLbl="node1" presStyleIdx="6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4269AE2-5C1C-450C-84C5-271D55D9FFE3}" srcId="{6AD898E4-DD7B-4EC5-861D-32724B0FB7D6}" destId="{A8696D95-2FE5-4507-AAAB-8D07453037A1}" srcOrd="1" destOrd="0" parTransId="{1DF27073-671C-48A1-96EA-18E09A4DBA86}" sibTransId="{34DFAFA2-7F7D-4E71-AF47-F6BA93374DEC}"/>
    <dgm:cxn modelId="{ADF8FA4E-02E2-4C59-876D-943C442D124E}" type="presOf" srcId="{CCF05572-08F2-41E3-A795-064AF7040577}" destId="{11744E0B-042D-4948-A39D-76DA77CE8D12}" srcOrd="0" destOrd="0" presId="urn:microsoft.com/office/officeart/2005/8/layout/vList2"/>
    <dgm:cxn modelId="{D023CC84-21AE-474B-B4CC-A35A1C75C30F}" type="presOf" srcId="{81B77344-5E1C-4C8A-AC68-D2A80DD16158}" destId="{BDF3D0F9-C151-49CF-8A25-7DC17E1101E2}" srcOrd="0" destOrd="0" presId="urn:microsoft.com/office/officeart/2005/8/layout/vList2"/>
    <dgm:cxn modelId="{4A672E99-52D4-4B97-A678-6E0E8E26BCC2}" srcId="{6AD898E4-DD7B-4EC5-861D-32724B0FB7D6}" destId="{849B935B-732F-40F4-AAD6-3CBC64BFB572}" srcOrd="0" destOrd="0" parTransId="{6D6D9F94-402C-4FEF-B5B5-A224CA3E0AFE}" sibTransId="{85D06F7D-153D-41C2-A7D9-75802424CA55}"/>
    <dgm:cxn modelId="{071B572F-A516-496F-86F9-48F9C66402FD}" type="presOf" srcId="{C29BC9DA-7735-4380-B389-AC1A8146D37B}" destId="{37C77CE4-617C-4F49-A475-290F16B7ED58}" srcOrd="0" destOrd="0" presId="urn:microsoft.com/office/officeart/2005/8/layout/vList2"/>
    <dgm:cxn modelId="{A158323B-0D85-4000-8D08-21DA3BAF35DD}" srcId="{6AD898E4-DD7B-4EC5-861D-32724B0FB7D6}" destId="{DFBCBFFE-FBA7-48E9-880C-69BBBF1CA876}" srcOrd="3" destOrd="0" parTransId="{935C3254-C751-4A2A-8ED2-10896DC0AB2B}" sibTransId="{AB82DCC6-4951-4E84-BAEA-0FF75E6A033E}"/>
    <dgm:cxn modelId="{C18514F8-89D8-4183-9890-608D85ECE25E}" type="presOf" srcId="{A8696D95-2FE5-4507-AAAB-8D07453037A1}" destId="{D11FCE35-D352-41A2-B8E3-493F5E1FF696}" srcOrd="0" destOrd="0" presId="urn:microsoft.com/office/officeart/2005/8/layout/vList2"/>
    <dgm:cxn modelId="{141098F5-A055-4451-B918-D8E5CFE4C110}" srcId="{6AD898E4-DD7B-4EC5-861D-32724B0FB7D6}" destId="{AB448FB3-20E1-4B02-9C5E-6EB909D42A52}" srcOrd="5" destOrd="0" parTransId="{E36D8F79-F648-4BFC-84C6-BA5A3C626955}" sibTransId="{56494A12-67B5-4658-9FA0-71B5D13AD031}"/>
    <dgm:cxn modelId="{43FBDED2-FD8F-417C-8A20-2BC1D150A5E4}" srcId="{6AD898E4-DD7B-4EC5-861D-32724B0FB7D6}" destId="{C29BC9DA-7735-4380-B389-AC1A8146D37B}" srcOrd="4" destOrd="0" parTransId="{CA551B22-909A-47CE-887C-4D9A53AC1C5D}" sibTransId="{FEAE5D26-E19F-493B-9B80-EA3327813858}"/>
    <dgm:cxn modelId="{149B3DF5-04F8-4047-8F1C-848968C23B47}" type="presOf" srcId="{6AD898E4-DD7B-4EC5-861D-32724B0FB7D6}" destId="{88BA36C0-2C8E-42DA-9E7C-4ED2794B4B75}" srcOrd="0" destOrd="0" presId="urn:microsoft.com/office/officeart/2005/8/layout/vList2"/>
    <dgm:cxn modelId="{EB9B9C06-2767-4FE6-B8AA-C6211F79CFFB}" type="presOf" srcId="{849B935B-732F-40F4-AAD6-3CBC64BFB572}" destId="{EC34578F-4EA2-4F8C-B895-491270BD0377}" srcOrd="0" destOrd="0" presId="urn:microsoft.com/office/officeart/2005/8/layout/vList2"/>
    <dgm:cxn modelId="{6EA3C1AC-0F16-4B59-A5CF-4C0D0566C9E0}" srcId="{6AD898E4-DD7B-4EC5-861D-32724B0FB7D6}" destId="{CCF05572-08F2-41E3-A795-064AF7040577}" srcOrd="6" destOrd="0" parTransId="{38FB1C1E-6EB2-4F2D-A83D-1962F64A507C}" sibTransId="{EB5D52F3-3E17-49A4-9EB1-D597BA75E284}"/>
    <dgm:cxn modelId="{65730A62-D258-4C27-BB0C-B056B07ECFE1}" type="presOf" srcId="{DFBCBFFE-FBA7-48E9-880C-69BBBF1CA876}" destId="{C3C142B3-D73D-4214-93E3-6709127808AD}" srcOrd="0" destOrd="0" presId="urn:microsoft.com/office/officeart/2005/8/layout/vList2"/>
    <dgm:cxn modelId="{431C2F7D-6C08-4819-A89C-36A709FDB130}" type="presOf" srcId="{AB448FB3-20E1-4B02-9C5E-6EB909D42A52}" destId="{E2FD9BA6-C6EA-4EF9-9B31-D40DDA426D24}" srcOrd="0" destOrd="0" presId="urn:microsoft.com/office/officeart/2005/8/layout/vList2"/>
    <dgm:cxn modelId="{3D4CF296-4A36-4640-826D-8438DF0D20F0}" srcId="{6AD898E4-DD7B-4EC5-861D-32724B0FB7D6}" destId="{81B77344-5E1C-4C8A-AC68-D2A80DD16158}" srcOrd="2" destOrd="0" parTransId="{C224768B-7746-4374-8812-EE309F8358C9}" sibTransId="{5F55E610-883F-4356-BD00-E4D6E2463505}"/>
    <dgm:cxn modelId="{A196397F-9E97-44D7-90BB-7A00B06BED24}" type="presParOf" srcId="{88BA36C0-2C8E-42DA-9E7C-4ED2794B4B75}" destId="{EC34578F-4EA2-4F8C-B895-491270BD0377}" srcOrd="0" destOrd="0" presId="urn:microsoft.com/office/officeart/2005/8/layout/vList2"/>
    <dgm:cxn modelId="{7BF3910A-779E-49F9-9D3A-D3A0C628136A}" type="presParOf" srcId="{88BA36C0-2C8E-42DA-9E7C-4ED2794B4B75}" destId="{29A7F7A4-F6A3-422F-BD53-9F7266060041}" srcOrd="1" destOrd="0" presId="urn:microsoft.com/office/officeart/2005/8/layout/vList2"/>
    <dgm:cxn modelId="{97C4BD5B-A9FC-4267-BCAC-04F5FC3AD0E6}" type="presParOf" srcId="{88BA36C0-2C8E-42DA-9E7C-4ED2794B4B75}" destId="{D11FCE35-D352-41A2-B8E3-493F5E1FF696}" srcOrd="2" destOrd="0" presId="urn:microsoft.com/office/officeart/2005/8/layout/vList2"/>
    <dgm:cxn modelId="{B21A739F-EA69-46B4-BF1F-FC7C49B971F2}" type="presParOf" srcId="{88BA36C0-2C8E-42DA-9E7C-4ED2794B4B75}" destId="{6400E3BD-1F82-4ADA-A623-C90846D6AB0E}" srcOrd="3" destOrd="0" presId="urn:microsoft.com/office/officeart/2005/8/layout/vList2"/>
    <dgm:cxn modelId="{960A8A6C-32D5-4A41-8FE8-93858D0FF859}" type="presParOf" srcId="{88BA36C0-2C8E-42DA-9E7C-4ED2794B4B75}" destId="{BDF3D0F9-C151-49CF-8A25-7DC17E1101E2}" srcOrd="4" destOrd="0" presId="urn:microsoft.com/office/officeart/2005/8/layout/vList2"/>
    <dgm:cxn modelId="{5F0D8A5D-F1D2-4EF5-BB65-64FD6833C4D9}" type="presParOf" srcId="{88BA36C0-2C8E-42DA-9E7C-4ED2794B4B75}" destId="{C9F8942B-8D1B-41B3-856E-8B9D8030E543}" srcOrd="5" destOrd="0" presId="urn:microsoft.com/office/officeart/2005/8/layout/vList2"/>
    <dgm:cxn modelId="{96E19B0B-83A0-4A32-B7BA-F5C3B04B7932}" type="presParOf" srcId="{88BA36C0-2C8E-42DA-9E7C-4ED2794B4B75}" destId="{C3C142B3-D73D-4214-93E3-6709127808AD}" srcOrd="6" destOrd="0" presId="urn:microsoft.com/office/officeart/2005/8/layout/vList2"/>
    <dgm:cxn modelId="{0A3ADE35-DEFF-4BA5-89FC-78BE02EA19A4}" type="presParOf" srcId="{88BA36C0-2C8E-42DA-9E7C-4ED2794B4B75}" destId="{7A7204B2-45FF-4713-A793-8879C73F0FC9}" srcOrd="7" destOrd="0" presId="urn:microsoft.com/office/officeart/2005/8/layout/vList2"/>
    <dgm:cxn modelId="{A333111F-CFB6-49D0-8292-82DE7513057F}" type="presParOf" srcId="{88BA36C0-2C8E-42DA-9E7C-4ED2794B4B75}" destId="{37C77CE4-617C-4F49-A475-290F16B7ED58}" srcOrd="8" destOrd="0" presId="urn:microsoft.com/office/officeart/2005/8/layout/vList2"/>
    <dgm:cxn modelId="{37232BB2-FAE3-42BA-8C8E-CFCD167E082F}" type="presParOf" srcId="{88BA36C0-2C8E-42DA-9E7C-4ED2794B4B75}" destId="{113471A6-9F4A-45BF-B5E0-90F5CEE4AEDC}" srcOrd="9" destOrd="0" presId="urn:microsoft.com/office/officeart/2005/8/layout/vList2"/>
    <dgm:cxn modelId="{C2CC753A-45D7-4315-9F4F-4A6E2D6153A5}" type="presParOf" srcId="{88BA36C0-2C8E-42DA-9E7C-4ED2794B4B75}" destId="{E2FD9BA6-C6EA-4EF9-9B31-D40DDA426D24}" srcOrd="10" destOrd="0" presId="urn:microsoft.com/office/officeart/2005/8/layout/vList2"/>
    <dgm:cxn modelId="{19D9139D-4AA1-4DD4-A734-C3040CDA8799}" type="presParOf" srcId="{88BA36C0-2C8E-42DA-9E7C-4ED2794B4B75}" destId="{1FFAC530-2A1A-43D1-862E-C7BE0E48BA68}" srcOrd="11" destOrd="0" presId="urn:microsoft.com/office/officeart/2005/8/layout/vList2"/>
    <dgm:cxn modelId="{10B8021B-87FA-49B0-8164-7E52B135C5B3}" type="presParOf" srcId="{88BA36C0-2C8E-42DA-9E7C-4ED2794B4B75}" destId="{11744E0B-042D-4948-A39D-76DA77CE8D12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3460538" cy="3862383"/>
        <a:chOff x="0" y="0"/>
        <a:chExt cx="3460538" cy="3862383"/>
      </a:xfrm>
    </dsp:grpSpPr>
    <dsp:sp modelId="{EC34578F-4EA2-4F8C-B895-491270BD0377}">
      <dsp:nvSpPr>
        <dsp:cNvPr id="3" name="Rounded Rectangle 2"/>
        <dsp:cNvSpPr/>
      </dsp:nvSpPr>
      <dsp:spPr bwMode="white">
        <a:xfrm>
          <a:off x="0" y="56179"/>
          <a:ext cx="3460538" cy="506095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45719" tIns="45719" rIns="45719" bIns="45719" anchor="ctr"/>
        <a:lstStyle>
          <a:lvl1pPr algn="l">
            <a:defRPr sz="1200"/>
          </a:lvl1pPr>
          <a:lvl2pPr marL="57150" indent="-57150" algn="l">
            <a:defRPr sz="900"/>
          </a:lvl2pPr>
          <a:lvl3pPr marL="114300" indent="-57150" algn="l">
            <a:defRPr sz="900"/>
          </a:lvl3pPr>
          <a:lvl4pPr marL="171450" indent="-57150" algn="l">
            <a:defRPr sz="900"/>
          </a:lvl4pPr>
          <a:lvl5pPr marL="228600" indent="-57150" algn="l">
            <a:defRPr sz="900"/>
          </a:lvl5pPr>
          <a:lvl6pPr marL="285750" indent="-57150" algn="l">
            <a:defRPr sz="900"/>
          </a:lvl6pPr>
          <a:lvl7pPr marL="342900" indent="-57150" algn="l">
            <a:defRPr sz="900"/>
          </a:lvl7pPr>
          <a:lvl8pPr marL="400050" indent="-57150" algn="l">
            <a:defRPr sz="900"/>
          </a:lvl8pPr>
          <a:lvl9pPr marL="457200" indent="-57150" algn="l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dirty="0">
              <a:latin typeface="Times New Roman" panose="02020603050405020304"/>
              <a:cs typeface="Times New Roman" panose="02020603050405020304"/>
            </a:rPr>
            <a:t>The testing was evaluated using </a:t>
          </a:r>
          <a:r>
            <a:rPr lang="en-GB" dirty="0" err="1">
              <a:latin typeface="Times New Roman" panose="02020603050405020304"/>
              <a:cs typeface="Times New Roman" panose="02020603050405020304"/>
            </a:rPr>
            <a:t>GTmetrix</a:t>
          </a:r>
          <a:endParaRPr lang="en-US" dirty="0" err="1">
            <a:latin typeface="Times New Roman" panose="02020603050405020304"/>
            <a:cs typeface="Times New Roman" panose="02020603050405020304"/>
          </a:endParaRPr>
        </a:p>
      </dsp:txBody>
      <dsp:txXfrm>
        <a:off x="0" y="56179"/>
        <a:ext cx="3460538" cy="506095"/>
      </dsp:txXfrm>
    </dsp:sp>
    <dsp:sp modelId="{D11FCE35-D352-41A2-B8E3-493F5E1FF696}">
      <dsp:nvSpPr>
        <dsp:cNvPr id="4" name="Rounded Rectangle 3"/>
        <dsp:cNvSpPr/>
      </dsp:nvSpPr>
      <dsp:spPr bwMode="white">
        <a:xfrm>
          <a:off x="0" y="596834"/>
          <a:ext cx="3460538" cy="506095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45719" tIns="45719" rIns="45719" bIns="45719" anchor="ctr"/>
        <a:lstStyle>
          <a:lvl1pPr algn="l">
            <a:defRPr sz="1200"/>
          </a:lvl1pPr>
          <a:lvl2pPr marL="57150" indent="-57150" algn="l">
            <a:defRPr sz="900"/>
          </a:lvl2pPr>
          <a:lvl3pPr marL="114300" indent="-57150" algn="l">
            <a:defRPr sz="900"/>
          </a:lvl3pPr>
          <a:lvl4pPr marL="171450" indent="-57150" algn="l">
            <a:defRPr sz="900"/>
          </a:lvl4pPr>
          <a:lvl5pPr marL="228600" indent="-57150" algn="l">
            <a:defRPr sz="900"/>
          </a:lvl5pPr>
          <a:lvl6pPr marL="285750" indent="-57150" algn="l">
            <a:defRPr sz="900"/>
          </a:lvl6pPr>
          <a:lvl7pPr marL="342900" indent="-57150" algn="l">
            <a:defRPr sz="900"/>
          </a:lvl7pPr>
          <a:lvl8pPr marL="400050" indent="-57150" algn="l">
            <a:defRPr sz="900"/>
          </a:lvl8pPr>
          <a:lvl9pPr marL="457200" indent="-57150" algn="l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b="1" dirty="0">
              <a:latin typeface="Times New Roman" panose="02020603050405020304"/>
              <a:cs typeface="Times New Roman" panose="02020603050405020304"/>
            </a:rPr>
            <a:t>Performance Grade (A)</a:t>
          </a:r>
          <a:r>
            <a:rPr lang="en-GB" dirty="0">
              <a:latin typeface="Times New Roman" panose="02020603050405020304"/>
              <a:cs typeface="Times New Roman" panose="02020603050405020304"/>
            </a:rPr>
            <a:t>: </a:t>
          </a:r>
          <a:endParaRPr lang="en-US" dirty="0">
            <a:latin typeface="Times New Roman" panose="02020603050405020304"/>
            <a:cs typeface="Times New Roman" panose="02020603050405020304"/>
          </a:endParaRPr>
        </a:p>
      </dsp:txBody>
      <dsp:txXfrm>
        <a:off x="0" y="596834"/>
        <a:ext cx="3460538" cy="506095"/>
      </dsp:txXfrm>
    </dsp:sp>
    <dsp:sp modelId="{BDF3D0F9-C151-49CF-8A25-7DC17E1101E2}">
      <dsp:nvSpPr>
        <dsp:cNvPr id="5" name="Rounded Rectangle 4"/>
        <dsp:cNvSpPr/>
      </dsp:nvSpPr>
      <dsp:spPr bwMode="white">
        <a:xfrm>
          <a:off x="0" y="1137489"/>
          <a:ext cx="3460538" cy="506095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45719" tIns="45719" rIns="45719" bIns="45719" anchor="ctr"/>
        <a:lstStyle>
          <a:lvl1pPr algn="l">
            <a:defRPr sz="1200"/>
          </a:lvl1pPr>
          <a:lvl2pPr marL="57150" indent="-57150" algn="l">
            <a:defRPr sz="900"/>
          </a:lvl2pPr>
          <a:lvl3pPr marL="114300" indent="-57150" algn="l">
            <a:defRPr sz="900"/>
          </a:lvl3pPr>
          <a:lvl4pPr marL="171450" indent="-57150" algn="l">
            <a:defRPr sz="900"/>
          </a:lvl4pPr>
          <a:lvl5pPr marL="228600" indent="-57150" algn="l">
            <a:defRPr sz="900"/>
          </a:lvl5pPr>
          <a:lvl6pPr marL="285750" indent="-57150" algn="l">
            <a:defRPr sz="900"/>
          </a:lvl6pPr>
          <a:lvl7pPr marL="342900" indent="-57150" algn="l">
            <a:defRPr sz="900"/>
          </a:lvl7pPr>
          <a:lvl8pPr marL="400050" indent="-57150" algn="l">
            <a:defRPr sz="900"/>
          </a:lvl8pPr>
          <a:lvl9pPr marL="457200" indent="-57150" algn="l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b="1" dirty="0">
              <a:latin typeface="Times New Roman" panose="02020603050405020304"/>
              <a:cs typeface="Times New Roman" panose="02020603050405020304"/>
            </a:rPr>
            <a:t>Performance Score (91%)</a:t>
          </a:r>
          <a:r>
            <a:rPr lang="en-GB" dirty="0">
              <a:latin typeface="Times New Roman" panose="02020603050405020304"/>
              <a:cs typeface="Times New Roman" panose="02020603050405020304"/>
            </a:rPr>
            <a:t>: This is a solid score, showing that the website is very fast and optimized.</a:t>
          </a:r>
          <a:endParaRPr lang="en-US" dirty="0">
            <a:latin typeface="Times New Roman" panose="02020603050405020304"/>
            <a:cs typeface="Times New Roman" panose="02020603050405020304"/>
          </a:endParaRPr>
        </a:p>
      </dsp:txBody>
      <dsp:txXfrm>
        <a:off x="0" y="1137489"/>
        <a:ext cx="3460538" cy="506095"/>
      </dsp:txXfrm>
    </dsp:sp>
    <dsp:sp modelId="{C3C142B3-D73D-4214-93E3-6709127808AD}">
      <dsp:nvSpPr>
        <dsp:cNvPr id="6" name="Rounded Rectangle 5"/>
        <dsp:cNvSpPr/>
      </dsp:nvSpPr>
      <dsp:spPr bwMode="white">
        <a:xfrm>
          <a:off x="0" y="1678144"/>
          <a:ext cx="3460538" cy="506095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45719" tIns="45719" rIns="45719" bIns="45719" anchor="ctr"/>
        <a:lstStyle>
          <a:lvl1pPr algn="l">
            <a:defRPr sz="1200"/>
          </a:lvl1pPr>
          <a:lvl2pPr marL="57150" indent="-57150" algn="l">
            <a:defRPr sz="900"/>
          </a:lvl2pPr>
          <a:lvl3pPr marL="114300" indent="-57150" algn="l">
            <a:defRPr sz="900"/>
          </a:lvl3pPr>
          <a:lvl4pPr marL="171450" indent="-57150" algn="l">
            <a:defRPr sz="900"/>
          </a:lvl4pPr>
          <a:lvl5pPr marL="228600" indent="-57150" algn="l">
            <a:defRPr sz="900"/>
          </a:lvl5pPr>
          <a:lvl6pPr marL="285750" indent="-57150" algn="l">
            <a:defRPr sz="900"/>
          </a:lvl6pPr>
          <a:lvl7pPr marL="342900" indent="-57150" algn="l">
            <a:defRPr sz="900"/>
          </a:lvl7pPr>
          <a:lvl8pPr marL="400050" indent="-57150" algn="l">
            <a:defRPr sz="900"/>
          </a:lvl8pPr>
          <a:lvl9pPr marL="457200" indent="-57150" algn="l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b="1" dirty="0">
              <a:latin typeface="Times New Roman" panose="02020603050405020304"/>
              <a:cs typeface="Times New Roman" panose="02020603050405020304"/>
            </a:rPr>
            <a:t>Structure Score (98%)</a:t>
          </a:r>
          <a:r>
            <a:rPr lang="en-GB" dirty="0">
              <a:latin typeface="Times New Roman" panose="02020603050405020304"/>
              <a:cs typeface="Times New Roman" panose="02020603050405020304"/>
            </a:rPr>
            <a:t>: Almost perfect!</a:t>
          </a:r>
          <a:endParaRPr lang="en-US" dirty="0">
            <a:latin typeface="Times New Roman" panose="02020603050405020304"/>
            <a:cs typeface="Times New Roman" panose="02020603050405020304"/>
          </a:endParaRPr>
        </a:p>
      </dsp:txBody>
      <dsp:txXfrm>
        <a:off x="0" y="1678144"/>
        <a:ext cx="3460538" cy="506095"/>
      </dsp:txXfrm>
    </dsp:sp>
    <dsp:sp modelId="{37C77CE4-617C-4F49-A475-290F16B7ED58}">
      <dsp:nvSpPr>
        <dsp:cNvPr id="7" name="Rounded Rectangle 6"/>
        <dsp:cNvSpPr/>
      </dsp:nvSpPr>
      <dsp:spPr bwMode="white">
        <a:xfrm>
          <a:off x="0" y="2218799"/>
          <a:ext cx="3460538" cy="506095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45719" tIns="45719" rIns="45719" bIns="45719" anchor="ctr"/>
        <a:lstStyle>
          <a:lvl1pPr algn="l">
            <a:defRPr sz="1200"/>
          </a:lvl1pPr>
          <a:lvl2pPr marL="57150" indent="-57150" algn="l">
            <a:defRPr sz="900"/>
          </a:lvl2pPr>
          <a:lvl3pPr marL="114300" indent="-57150" algn="l">
            <a:defRPr sz="900"/>
          </a:lvl3pPr>
          <a:lvl4pPr marL="171450" indent="-57150" algn="l">
            <a:defRPr sz="900"/>
          </a:lvl4pPr>
          <a:lvl5pPr marL="228600" indent="-57150" algn="l">
            <a:defRPr sz="900"/>
          </a:lvl5pPr>
          <a:lvl6pPr marL="285750" indent="-57150" algn="l">
            <a:defRPr sz="900"/>
          </a:lvl6pPr>
          <a:lvl7pPr marL="342900" indent="-57150" algn="l">
            <a:defRPr sz="900"/>
          </a:lvl7pPr>
          <a:lvl8pPr marL="400050" indent="-57150" algn="l">
            <a:defRPr sz="900"/>
          </a:lvl8pPr>
          <a:lvl9pPr marL="457200" indent="-57150" algn="l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dirty="0">
              <a:latin typeface="Times New Roman" panose="02020603050405020304"/>
              <a:cs typeface="Times New Roman" panose="02020603050405020304"/>
            </a:rPr>
            <a:t>Page Size (1.46 MB)The page size is well-optimized for quick loading.</a:t>
          </a:r>
          <a:endParaRPr lang="en-US" dirty="0">
            <a:latin typeface="Times New Roman" panose="02020603050405020304"/>
            <a:cs typeface="Times New Roman" panose="02020603050405020304"/>
          </a:endParaRPr>
        </a:p>
      </dsp:txBody>
      <dsp:txXfrm>
        <a:off x="0" y="2218799"/>
        <a:ext cx="3460538" cy="506095"/>
      </dsp:txXfrm>
    </dsp:sp>
    <dsp:sp modelId="{E2FD9BA6-C6EA-4EF9-9B31-D40DDA426D24}">
      <dsp:nvSpPr>
        <dsp:cNvPr id="8" name="Rounded Rectangle 7"/>
        <dsp:cNvSpPr/>
      </dsp:nvSpPr>
      <dsp:spPr bwMode="white">
        <a:xfrm>
          <a:off x="0" y="2759454"/>
          <a:ext cx="3460538" cy="506095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45719" tIns="45719" rIns="45719" bIns="45719" anchor="ctr"/>
        <a:lstStyle>
          <a:lvl1pPr algn="l">
            <a:defRPr sz="1200"/>
          </a:lvl1pPr>
          <a:lvl2pPr marL="57150" indent="-57150" algn="l">
            <a:defRPr sz="900"/>
          </a:lvl2pPr>
          <a:lvl3pPr marL="114300" indent="-57150" algn="l">
            <a:defRPr sz="900"/>
          </a:lvl3pPr>
          <a:lvl4pPr marL="171450" indent="-57150" algn="l">
            <a:defRPr sz="900"/>
          </a:lvl4pPr>
          <a:lvl5pPr marL="228600" indent="-57150" algn="l">
            <a:defRPr sz="900"/>
          </a:lvl5pPr>
          <a:lvl6pPr marL="285750" indent="-57150" algn="l">
            <a:defRPr sz="900"/>
          </a:lvl6pPr>
          <a:lvl7pPr marL="342900" indent="-57150" algn="l">
            <a:defRPr sz="900"/>
          </a:lvl7pPr>
          <a:lvl8pPr marL="400050" indent="-57150" algn="l">
            <a:defRPr sz="900"/>
          </a:lvl8pPr>
          <a:lvl9pPr marL="457200" indent="-57150" algn="l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b="1" dirty="0">
              <a:latin typeface="Times New Roman" panose="02020603050405020304"/>
              <a:cs typeface="Times New Roman" panose="02020603050405020304"/>
            </a:rPr>
            <a:t>38 Requests</a:t>
          </a:r>
          <a:r>
            <a:rPr lang="en-GB" dirty="0">
              <a:latin typeface="Times New Roman" panose="02020603050405020304"/>
              <a:cs typeface="Times New Roman" panose="02020603050405020304"/>
            </a:rPr>
            <a:t>: The number of requests is relatively low, contributing to a fast loading time.</a:t>
          </a:r>
          <a:endParaRPr lang="en-US" dirty="0">
            <a:latin typeface="Times New Roman" panose="02020603050405020304"/>
            <a:cs typeface="Times New Roman" panose="02020603050405020304"/>
          </a:endParaRPr>
        </a:p>
      </dsp:txBody>
      <dsp:txXfrm>
        <a:off x="0" y="2759454"/>
        <a:ext cx="3460538" cy="506095"/>
      </dsp:txXfrm>
    </dsp:sp>
    <dsp:sp modelId="{11744E0B-042D-4948-A39D-76DA77CE8D12}">
      <dsp:nvSpPr>
        <dsp:cNvPr id="9" name="Rounded Rectangle 8"/>
        <dsp:cNvSpPr/>
      </dsp:nvSpPr>
      <dsp:spPr bwMode="white">
        <a:xfrm>
          <a:off x="0" y="3300109"/>
          <a:ext cx="3460538" cy="506095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45719" tIns="45719" rIns="45719" bIns="45719" anchor="ctr"/>
        <a:lstStyle>
          <a:lvl1pPr algn="l">
            <a:defRPr sz="1200"/>
          </a:lvl1pPr>
          <a:lvl2pPr marL="57150" indent="-57150" algn="l">
            <a:defRPr sz="900"/>
          </a:lvl2pPr>
          <a:lvl3pPr marL="114300" indent="-57150" algn="l">
            <a:defRPr sz="900"/>
          </a:lvl3pPr>
          <a:lvl4pPr marL="171450" indent="-57150" algn="l">
            <a:defRPr sz="900"/>
          </a:lvl4pPr>
          <a:lvl5pPr marL="228600" indent="-57150" algn="l">
            <a:defRPr sz="900"/>
          </a:lvl5pPr>
          <a:lvl6pPr marL="285750" indent="-57150" algn="l">
            <a:defRPr sz="900"/>
          </a:lvl6pPr>
          <a:lvl7pPr marL="342900" indent="-57150" algn="l">
            <a:defRPr sz="900"/>
          </a:lvl7pPr>
          <a:lvl8pPr marL="400050" indent="-57150" algn="l">
            <a:defRPr sz="900"/>
          </a:lvl8pPr>
          <a:lvl9pPr marL="457200" indent="-57150" algn="l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b="1" dirty="0">
              <a:latin typeface="Times New Roman" panose="02020603050405020304"/>
              <a:cs typeface="Times New Roman" panose="02020603050405020304"/>
            </a:rPr>
            <a:t>Total Load Time (0.8 seconds)</a:t>
          </a:r>
          <a:r>
            <a:rPr lang="en-GB" dirty="0">
              <a:latin typeface="Times New Roman" panose="02020603050405020304"/>
              <a:cs typeface="Times New Roman" panose="02020603050405020304"/>
            </a:rPr>
            <a:t>: Very fast! This is excellent for user engagement.</a:t>
          </a:r>
          <a:endParaRPr lang="en-US" dirty="0">
            <a:latin typeface="Times New Roman" panose="02020603050405020304"/>
            <a:cs typeface="Times New Roman" panose="02020603050405020304"/>
          </a:endParaRPr>
        </a:p>
      </dsp:txBody>
      <dsp:txXfrm>
        <a:off x="0" y="3300109"/>
        <a:ext cx="3460538" cy="5060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/>
          </a:p>
        </p:txBody>
      </p:sp>
      <p:sp>
        <p:nvSpPr>
          <p:cNvPr id="1029" name="Footer Placeholder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/>
          </a:p>
        </p:txBody>
      </p:sp>
      <p:sp>
        <p:nvSpPr>
          <p:cNvPr id="1030" name="Slide Number Placeholder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57" name="Freeform: Shape 205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141714" cy="1899601"/>
          </a:xfrm>
          <a:custGeom>
            <a:avLst/>
            <a:gdLst>
              <a:gd name="connsiteX0" fmla="*/ 0 w 12188952"/>
              <a:gd name="connsiteY0" fmla="*/ 0 h 1899601"/>
              <a:gd name="connsiteX1" fmla="*/ 12188952 w 12188952"/>
              <a:gd name="connsiteY1" fmla="*/ 0 h 1899601"/>
              <a:gd name="connsiteX2" fmla="*/ 12188952 w 12188952"/>
              <a:gd name="connsiteY2" fmla="*/ 1635106 h 1899601"/>
              <a:gd name="connsiteX3" fmla="*/ 11356325 w 12188952"/>
              <a:gd name="connsiteY3" fmla="*/ 1707615 h 1899601"/>
              <a:gd name="connsiteX4" fmla="*/ 6096001 w 12188952"/>
              <a:gd name="connsiteY4" fmla="*/ 1899601 h 1899601"/>
              <a:gd name="connsiteX5" fmla="*/ 835678 w 12188952"/>
              <a:gd name="connsiteY5" fmla="*/ 1707615 h 1899601"/>
              <a:gd name="connsiteX6" fmla="*/ 0 w 12188952"/>
              <a:gd name="connsiteY6" fmla="*/ 1634841 h 189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1899601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59" name="Freeform: Shape 205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144000" cy="1890722"/>
          </a:xfrm>
          <a:custGeom>
            <a:avLst/>
            <a:gdLst>
              <a:gd name="connsiteX0" fmla="*/ 0 w 12192000"/>
              <a:gd name="connsiteY0" fmla="*/ 0 h 1890722"/>
              <a:gd name="connsiteX1" fmla="*/ 12192000 w 12192000"/>
              <a:gd name="connsiteY1" fmla="*/ 0 h 1890722"/>
              <a:gd name="connsiteX2" fmla="*/ 12192000 w 12192000"/>
              <a:gd name="connsiteY2" fmla="*/ 1626227 h 1890722"/>
              <a:gd name="connsiteX3" fmla="*/ 11359165 w 12192000"/>
              <a:gd name="connsiteY3" fmla="*/ 1698736 h 1890722"/>
              <a:gd name="connsiteX4" fmla="*/ 6097526 w 12192000"/>
              <a:gd name="connsiteY4" fmla="*/ 1890722 h 1890722"/>
              <a:gd name="connsiteX5" fmla="*/ 835887 w 12192000"/>
              <a:gd name="connsiteY5" fmla="*/ 1698736 h 1890722"/>
              <a:gd name="connsiteX6" fmla="*/ 0 w 12192000"/>
              <a:gd name="connsiteY6" fmla="*/ 1625962 h 189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90722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49" name="Title 1"/>
          <p:cNvSpPr>
            <a:spLocks noGrp="1"/>
          </p:cNvSpPr>
          <p:nvPr>
            <p:ph type="ctrTitle"/>
          </p:nvPr>
        </p:nvSpPr>
        <p:spPr>
          <a:xfrm>
            <a:off x="861688" y="253397"/>
            <a:ext cx="7653662" cy="1273233"/>
          </a:xfrm>
        </p:spPr>
        <p:txBody>
          <a:bodyPr vert="horz" lIns="91440" tIns="45720" rIns="91440" bIns="45720" rtlCol="0" anchor="ctr" anchorCtr="0">
            <a:normAutofit/>
          </a:bodyPr>
          <a:lstStyle/>
          <a:p>
            <a:pPr algn="l" rtl="0">
              <a:lnSpc>
                <a:spcPct val="90000"/>
              </a:lnSpc>
            </a:pPr>
            <a:r>
              <a:rPr lang="en-US" altLang="en-US" sz="270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Times New Roman" panose="02020603050405020304"/>
                <a:cs typeface="Times New Roman" panose="02020603050405020304"/>
              </a:rPr>
              <a:t>  </a:t>
            </a:r>
            <a:r>
              <a:rPr lang="en-US" altLang="en-US" sz="240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Times New Roman" panose="02020603050405020304"/>
                <a:cs typeface="Times New Roman" panose="02020603050405020304"/>
              </a:rPr>
              <a:t>    </a:t>
            </a:r>
            <a:r>
              <a:rPr lang="en-US" altLang="en-US" sz="2400" b="1" kern="1200" baseline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Times New Roman" panose="02020603050405020304"/>
                <a:ea typeface="+mj-ea"/>
                <a:cs typeface="Times New Roman" panose="02020603050405020304"/>
              </a:rPr>
              <a:t>Intermediate </a:t>
            </a:r>
            <a:r>
              <a:rPr lang="en-US" sz="240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Times New Roman" panose="02020603050405020304"/>
                <a:ea typeface="+mj-lt"/>
                <a:cs typeface="+mj-lt"/>
              </a:rPr>
              <a:t>presentation</a:t>
            </a:r>
            <a:endParaRPr lang="en-US" altLang="en-US" sz="2400" b="1" dirty="0">
              <a:ln w="13462">
                <a:solidFill>
                  <a:srgbClr val="FFFFFF"/>
                </a:solidFill>
                <a:prstDash val="solid"/>
              </a:ln>
              <a:solidFill>
                <a:schemeClr val="tx1"/>
              </a:solidFill>
              <a:effectLst>
                <a:outerShdw dist="38100" dir="2700000" algn="bl" rotWithShape="0">
                  <a:srgbClr val="C0D7F5"/>
                </a:outerShdw>
              </a:effectLst>
              <a:latin typeface="Times New Roman" panose="02020603050405020304"/>
              <a:cs typeface="Arial" panose="020B0604020202020204"/>
            </a:endParaRPr>
          </a:p>
          <a:p>
            <a:pPr algn="l" rtl="0">
              <a:lnSpc>
                <a:spcPct val="90000"/>
              </a:lnSpc>
            </a:pPr>
            <a:r>
              <a:rPr lang="en-US" altLang="en-US" sz="2400" b="1" kern="1200" baseline="0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Times New Roman" panose="02020603050405020304"/>
                <a:ea typeface="+mj-ea"/>
                <a:cs typeface="Times New Roman" panose="02020603050405020304"/>
              </a:rPr>
              <a:t>    Quality </a:t>
            </a:r>
            <a:r>
              <a:rPr lang="en-US" altLang="en-US" sz="2400" b="1" kern="1200" baseline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Times New Roman" panose="02020603050405020304"/>
                <a:ea typeface="+mj-ea"/>
                <a:cs typeface="Times New Roman" panose="02020603050405020304"/>
              </a:rPr>
              <a:t>Assessment of </a:t>
            </a:r>
            <a:r>
              <a:rPr lang="en-US" altLang="en-US" sz="2400" b="1" kern="1200" baseline="0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Times New Roman" panose="02020603050405020304"/>
                <a:ea typeface="+mj-ea"/>
                <a:cs typeface="Times New Roman" panose="02020603050405020304"/>
              </a:rPr>
              <a:t>Kıbrıs</a:t>
            </a:r>
            <a:r>
              <a:rPr lang="en-US" altLang="en-US" sz="2400" b="1" kern="1200" baseline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Times New Roman" panose="02020603050405020304"/>
                <a:ea typeface="+mj-ea"/>
                <a:cs typeface="Times New Roman" panose="02020603050405020304"/>
              </a:rPr>
              <a:t> </a:t>
            </a:r>
            <a:r>
              <a:rPr lang="en-US" altLang="en-US" sz="2400" b="1" kern="1200" baseline="0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Times New Roman" panose="02020603050405020304"/>
                <a:ea typeface="+mj-ea"/>
                <a:cs typeface="Times New Roman" panose="02020603050405020304"/>
              </a:rPr>
              <a:t>Gazetesi</a:t>
            </a:r>
            <a:r>
              <a:rPr lang="en-US" altLang="en-US" sz="2400" b="1" kern="1200" baseline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Times New Roman" panose="02020603050405020304"/>
                <a:ea typeface="+mj-ea"/>
                <a:cs typeface="Times New Roman" panose="02020603050405020304"/>
              </a:rPr>
              <a:t> Websit</a:t>
            </a:r>
            <a:r>
              <a:rPr lang="en-US" altLang="en-US" sz="2700" b="1" kern="1200" baseline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Times New Roman" panose="02020603050405020304"/>
                <a:ea typeface="+mj-ea"/>
                <a:cs typeface="Times New Roman" panose="02020603050405020304"/>
              </a:rPr>
              <a:t>e</a:t>
            </a:r>
            <a:endParaRPr lang="en-US" altLang="en-US" sz="2700" b="1" dirty="0">
              <a:ln w="13462">
                <a:solidFill>
                  <a:srgbClr val="FFFFFF"/>
                </a:solidFill>
                <a:prstDash val="solid"/>
              </a:ln>
              <a:solidFill>
                <a:schemeClr val="tx1"/>
              </a:solidFill>
              <a:effectLst>
                <a:outerShdw dist="38100" dir="2700000" algn="bl" rotWithShape="0">
                  <a:srgbClr val="C0D7F5"/>
                </a:outerShdw>
              </a:effectLst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061" name="Rectangle 206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52452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50" name="Subtitle 2"/>
          <p:cNvSpPr>
            <a:spLocks noGrp="1"/>
          </p:cNvSpPr>
          <p:nvPr>
            <p:ph type="subTitle" idx="1"/>
          </p:nvPr>
        </p:nvSpPr>
        <p:spPr>
          <a:xfrm>
            <a:off x="628650" y="2478024"/>
            <a:ext cx="7886700" cy="3694176"/>
          </a:xfrm>
        </p:spPr>
        <p:txBody>
          <a:bodyPr vert="horz" lIns="91440" tIns="45720" rIns="91440" bIns="45720" rtlCol="0" anchor="t" anchorCtr="0">
            <a:norm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indent="-228600" algn="l" rtl="0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900" b="1" baseline="0" dirty="0">
                <a:effectLst/>
                <a:latin typeface="Times New Roman" panose="02020603050405020304"/>
                <a:cs typeface="Times New Roman" panose="02020603050405020304"/>
              </a:rPr>
              <a:t>CMSE </a:t>
            </a:r>
            <a:r>
              <a:rPr lang="en-US" altLang="en-US" sz="1900" b="1" dirty="0">
                <a:latin typeface="Times New Roman" panose="02020603050405020304"/>
                <a:cs typeface="Times New Roman" panose="02020603050405020304"/>
              </a:rPr>
              <a:t>326</a:t>
            </a:r>
            <a:r>
              <a:rPr lang="en-US" altLang="en-US" sz="1900" b="1" baseline="0" dirty="0">
                <a:effectLst/>
                <a:latin typeface="Times New Roman" panose="02020603050405020304"/>
                <a:cs typeface="Times New Roman" panose="02020603050405020304"/>
              </a:rPr>
              <a:t> – Software Quality Assurance</a:t>
            </a:r>
            <a:endParaRPr lang="en-US" altLang="en-US" sz="1900" b="1" baseline="0" dirty="0">
              <a:effectLst/>
              <a:latin typeface="Times New Roman" panose="02020603050405020304"/>
              <a:cs typeface="Times New Roman" panose="02020603050405020304"/>
            </a:endParaRPr>
          </a:p>
          <a:p>
            <a:pPr indent="-228600" algn="l" rtl="0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900" b="1" baseline="0" dirty="0">
                <a:effectLst/>
                <a:latin typeface="Times New Roman" panose="02020603050405020304"/>
                <a:cs typeface="Times New Roman" panose="02020603050405020304"/>
              </a:rPr>
              <a:t>Eastern Mediterranean University</a:t>
            </a:r>
            <a:endParaRPr lang="en-US" altLang="en-US" sz="1900" b="1" baseline="0" dirty="0">
              <a:effectLst/>
              <a:latin typeface="Times New Roman" panose="02020603050405020304"/>
              <a:cs typeface="Times New Roman" panose="02020603050405020304"/>
            </a:endParaRPr>
          </a:p>
          <a:p>
            <a:pPr indent="-228600" algn="l" rtl="0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900" b="1" baseline="0" dirty="0">
                <a:effectLst/>
                <a:latin typeface="Times New Roman" panose="02020603050405020304"/>
                <a:cs typeface="Times New Roman" panose="02020603050405020304"/>
              </a:rPr>
              <a:t>Website: </a:t>
            </a:r>
            <a:r>
              <a:rPr lang="en-US" altLang="en-US" sz="1900" b="1" baseline="0" dirty="0" err="1">
                <a:effectLst/>
                <a:latin typeface="Times New Roman" panose="02020603050405020304"/>
                <a:cs typeface="Times New Roman" panose="02020603050405020304"/>
              </a:rPr>
              <a:t>Kıbrıs</a:t>
            </a:r>
            <a:r>
              <a:rPr lang="en-US" altLang="en-US" sz="1900" b="1" baseline="0" dirty="0">
                <a:effectLst/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en-US" sz="1900" b="1" baseline="0" dirty="0" err="1">
                <a:effectLst/>
                <a:latin typeface="Times New Roman" panose="02020603050405020304"/>
                <a:cs typeface="Times New Roman" panose="02020603050405020304"/>
              </a:rPr>
              <a:t>Gazetesi</a:t>
            </a:r>
            <a:endParaRPr lang="en-US" altLang="en-US" sz="1900" b="1" baseline="0" dirty="0">
              <a:effectLst/>
              <a:latin typeface="Times New Roman" panose="02020603050405020304"/>
              <a:cs typeface="Times New Roman" panose="02020603050405020304"/>
            </a:endParaRPr>
          </a:p>
          <a:p>
            <a:pPr indent="-228600" algn="l" rtl="0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900" b="1" baseline="0" dirty="0">
                <a:effectLst/>
                <a:latin typeface="Times New Roman" panose="02020603050405020304"/>
                <a:cs typeface="Times New Roman" panose="02020603050405020304"/>
              </a:rPr>
              <a:t>URL: https://kibrisgazetesi.com</a:t>
            </a:r>
            <a:endParaRPr lang="en-US" altLang="en-US" sz="1900" b="1" baseline="0" dirty="0">
              <a:effectLst/>
              <a:latin typeface="Times New Roman" panose="02020603050405020304"/>
              <a:cs typeface="Times New Roman" panose="02020603050405020304"/>
            </a:endParaRPr>
          </a:p>
          <a:p>
            <a:pPr indent="-228600" algn="l" rtl="0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900" b="1" baseline="0" dirty="0">
                <a:effectLst/>
                <a:latin typeface="Times New Roman" panose="02020603050405020304"/>
                <a:cs typeface="Times New Roman" panose="02020603050405020304"/>
              </a:rPr>
              <a:t>Team member: </a:t>
            </a:r>
            <a:endParaRPr lang="en-US" altLang="en-US" sz="1900" b="1" baseline="0" dirty="0">
              <a:effectLst/>
              <a:latin typeface="Times New Roman" panose="02020603050405020304"/>
              <a:cs typeface="Times New Roman" panose="02020603050405020304"/>
            </a:endParaRPr>
          </a:p>
          <a:p>
            <a:pPr indent="-228600" algn="l" rtl="0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900" b="1" baseline="0" dirty="0">
                <a:effectLst/>
                <a:latin typeface="Times New Roman" panose="02020603050405020304"/>
                <a:cs typeface="Times New Roman" panose="02020603050405020304"/>
              </a:rPr>
              <a:t>D: 21904531 | Name: Maaz Qureshi | Group: 2</a:t>
            </a:r>
            <a:endParaRPr lang="en-US" altLang="en-US" sz="1900" b="1" baseline="0" dirty="0">
              <a:effectLst/>
              <a:latin typeface="Times New Roman" panose="02020603050405020304"/>
              <a:cs typeface="Times New Roman" panose="02020603050405020304"/>
            </a:endParaRPr>
          </a:p>
          <a:p>
            <a:pPr indent="-228600" algn="l" rtl="0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900" b="1" baseline="0" dirty="0">
                <a:effectLst/>
                <a:latin typeface="Times New Roman" panose="02020603050405020304"/>
                <a:cs typeface="Times New Roman" panose="02020603050405020304"/>
              </a:rPr>
              <a:t>ID: 22331350 | Name: Hasan Orkan | Group: 2</a:t>
            </a:r>
            <a:endParaRPr lang="en-US" altLang="en-US" sz="1900" b="1" baseline="0" dirty="0">
              <a:effectLst/>
              <a:latin typeface="Times New Roman" panose="02020603050405020304"/>
              <a:cs typeface="Times New Roman" panose="02020603050405020304"/>
            </a:endParaRPr>
          </a:p>
          <a:p>
            <a:pPr indent="-228600" algn="l" rtl="0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900" b="1" baseline="0" dirty="0">
                <a:effectLst/>
                <a:latin typeface="Times New Roman" panose="02020603050405020304"/>
                <a:cs typeface="Times New Roman" panose="02020603050405020304"/>
              </a:rPr>
              <a:t>ID: 22002304 | Name: Samet Metehan </a:t>
            </a:r>
            <a:r>
              <a:rPr lang="en-US" altLang="en-US" sz="1900" b="1" baseline="0" dirty="0" err="1">
                <a:effectLst/>
                <a:latin typeface="Times New Roman" panose="02020603050405020304"/>
                <a:cs typeface="Times New Roman" panose="02020603050405020304"/>
              </a:rPr>
              <a:t>Özyener</a:t>
            </a:r>
            <a:r>
              <a:rPr lang="en-US" altLang="en-US" sz="1900" b="1" baseline="0" dirty="0">
                <a:effectLst/>
                <a:latin typeface="Times New Roman" panose="02020603050405020304"/>
                <a:cs typeface="Times New Roman" panose="02020603050405020304"/>
              </a:rPr>
              <a:t> | Group: 2</a:t>
            </a:r>
            <a:endParaRPr lang="en-US" altLang="en-US" sz="1900" b="1" baseline="0" dirty="0">
              <a:effectLst/>
              <a:latin typeface="Times New Roman" panose="02020603050405020304"/>
              <a:cs typeface="Times New Roman" panose="02020603050405020304"/>
            </a:endParaRPr>
          </a:p>
          <a:p>
            <a:pPr indent="-228600" algn="l" rtl="0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900" b="1" baseline="0" dirty="0">
                <a:effectLst/>
                <a:latin typeface="Times New Roman" panose="02020603050405020304"/>
                <a:cs typeface="Times New Roman" panose="02020603050405020304"/>
              </a:rPr>
              <a:t>ID: 22701636 | Name: Saad Ahmad | Group: 1</a:t>
            </a:r>
            <a:endParaRPr lang="en-US" altLang="en-US" sz="1900" b="1" baseline="0" dirty="0">
              <a:effectLst/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141714" cy="1899601"/>
          </a:xfrm>
          <a:custGeom>
            <a:avLst/>
            <a:gdLst>
              <a:gd name="connsiteX0" fmla="*/ 0 w 12188952"/>
              <a:gd name="connsiteY0" fmla="*/ 0 h 1899601"/>
              <a:gd name="connsiteX1" fmla="*/ 12188952 w 12188952"/>
              <a:gd name="connsiteY1" fmla="*/ 0 h 1899601"/>
              <a:gd name="connsiteX2" fmla="*/ 12188952 w 12188952"/>
              <a:gd name="connsiteY2" fmla="*/ 1635106 h 1899601"/>
              <a:gd name="connsiteX3" fmla="*/ 11356325 w 12188952"/>
              <a:gd name="connsiteY3" fmla="*/ 1707615 h 1899601"/>
              <a:gd name="connsiteX4" fmla="*/ 6096001 w 12188952"/>
              <a:gd name="connsiteY4" fmla="*/ 1899601 h 1899601"/>
              <a:gd name="connsiteX5" fmla="*/ 835678 w 12188952"/>
              <a:gd name="connsiteY5" fmla="*/ 1707615 h 1899601"/>
              <a:gd name="connsiteX6" fmla="*/ 0 w 12188952"/>
              <a:gd name="connsiteY6" fmla="*/ 1634841 h 189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1899601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144000" cy="1890722"/>
          </a:xfrm>
          <a:custGeom>
            <a:avLst/>
            <a:gdLst>
              <a:gd name="connsiteX0" fmla="*/ 0 w 12192000"/>
              <a:gd name="connsiteY0" fmla="*/ 0 h 1890722"/>
              <a:gd name="connsiteX1" fmla="*/ 12192000 w 12192000"/>
              <a:gd name="connsiteY1" fmla="*/ 0 h 1890722"/>
              <a:gd name="connsiteX2" fmla="*/ 12192000 w 12192000"/>
              <a:gd name="connsiteY2" fmla="*/ 1626227 h 1890722"/>
              <a:gd name="connsiteX3" fmla="*/ 11359165 w 12192000"/>
              <a:gd name="connsiteY3" fmla="*/ 1698736 h 1890722"/>
              <a:gd name="connsiteX4" fmla="*/ 6097526 w 12192000"/>
              <a:gd name="connsiteY4" fmla="*/ 1890722 h 1890722"/>
              <a:gd name="connsiteX5" fmla="*/ 835887 w 12192000"/>
              <a:gd name="connsiteY5" fmla="*/ 1698736 h 1890722"/>
              <a:gd name="connsiteX6" fmla="*/ 0 w 12192000"/>
              <a:gd name="connsiteY6" fmla="*/ 1625962 h 189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90722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53397"/>
            <a:ext cx="7886700" cy="1273233"/>
          </a:xfrm>
        </p:spPr>
        <p:txBody>
          <a:bodyPr lIns="91440" tIns="45720" rIns="91440" bIns="45720" anchor="ctr" anchorCtr="0">
            <a:normAutofit/>
          </a:bodyPr>
          <a:lstStyle/>
          <a:p>
            <a:r>
              <a:rPr lang="en-US" sz="3500" dirty="0">
                <a:latin typeface="Times New Roman" panose="02020603050405020304"/>
                <a:cs typeface="Times New Roman" panose="02020603050405020304"/>
              </a:rPr>
              <a:t>Overview </a:t>
            </a:r>
            <a:endParaRPr lang="en-US" sz="35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52452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478024"/>
            <a:ext cx="7886700" cy="3694176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altLang="en-US" sz="1900" dirty="0">
                <a:latin typeface="Times New Roman" panose="02020603050405020304"/>
                <a:cs typeface="Times New Roman" panose="02020603050405020304"/>
              </a:rPr>
              <a:t>Introduction</a:t>
            </a:r>
            <a:endParaRPr lang="en-US" altLang="en-US" sz="1900" dirty="0">
              <a:latin typeface="Times New Roman" panose="02020603050405020304"/>
              <a:cs typeface="Times New Roman" panose="02020603050405020304"/>
            </a:endParaRPr>
          </a:p>
          <a:p>
            <a:r>
              <a:rPr lang="en-US" altLang="en-US" sz="1900" dirty="0">
                <a:latin typeface="Times New Roman" panose="02020603050405020304"/>
                <a:cs typeface="Times New Roman" panose="02020603050405020304"/>
              </a:rPr>
              <a:t>Team Roles &amp; Work Distribution</a:t>
            </a:r>
            <a:endParaRPr lang="en-US" altLang="en-US" sz="1900">
              <a:latin typeface="Times New Roman" panose="02020603050405020304"/>
              <a:cs typeface="Times New Roman" panose="02020603050405020304"/>
            </a:endParaRPr>
          </a:p>
          <a:p>
            <a:r>
              <a:rPr lang="en-US" altLang="en-US" sz="1900" dirty="0">
                <a:latin typeface="Times New Roman" panose="02020603050405020304"/>
                <a:cs typeface="Times New Roman" panose="02020603050405020304"/>
              </a:rPr>
              <a:t>Brief Information About the Website</a:t>
            </a:r>
            <a:endParaRPr lang="en-US" altLang="en-US" sz="1900">
              <a:latin typeface="Times New Roman" panose="02020603050405020304"/>
              <a:cs typeface="Times New Roman" panose="02020603050405020304"/>
            </a:endParaRPr>
          </a:p>
          <a:p>
            <a:r>
              <a:rPr lang="en-US" altLang="en-US" sz="1900" dirty="0">
                <a:latin typeface="Times New Roman" panose="02020603050405020304"/>
                <a:cs typeface="Times New Roman" panose="02020603050405020304"/>
              </a:rPr>
              <a:t>Testing Strategy</a:t>
            </a:r>
            <a:endParaRPr lang="en-US" altLang="en-US" sz="1900">
              <a:latin typeface="Times New Roman" panose="02020603050405020304"/>
              <a:cs typeface="Times New Roman" panose="02020603050405020304"/>
            </a:endParaRPr>
          </a:p>
          <a:p>
            <a:r>
              <a:rPr lang="en-US" altLang="en-US" sz="1900" dirty="0">
                <a:latin typeface="Times New Roman" panose="02020603050405020304"/>
                <a:cs typeface="Times New Roman" panose="02020603050405020304"/>
              </a:rPr>
              <a:t>Tests Performed (Intermediate Phase)</a:t>
            </a:r>
            <a:endParaRPr lang="en-US" altLang="en-US" sz="1900">
              <a:latin typeface="Times New Roman" panose="02020603050405020304"/>
              <a:cs typeface="Times New Roman" panose="02020603050405020304"/>
            </a:endParaRPr>
          </a:p>
          <a:p>
            <a:r>
              <a:rPr lang="en-US" altLang="en-US" sz="1900" dirty="0">
                <a:latin typeface="Times New Roman" panose="02020603050405020304"/>
                <a:cs typeface="Times New Roman" panose="02020603050405020304"/>
              </a:rPr>
              <a:t>Key Results &amp; Recommendations</a:t>
            </a:r>
            <a:endParaRPr lang="en-US" altLang="en-US" sz="1900">
              <a:latin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endParaRPr lang="en-US" altLang="en-US" sz="1900" dirty="0">
              <a:latin typeface="Times New Roman" panose="02020603050405020304"/>
              <a:cs typeface="Arial" panose="020B0604020202020204"/>
            </a:endParaRPr>
          </a:p>
          <a:p>
            <a:pPr marL="0" indent="0">
              <a:buNone/>
            </a:pPr>
            <a:endParaRPr lang="en-US" altLang="en-US" sz="190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 lIns="91440" tIns="45720" rIns="91440" bIns="45720" anchor="ctr" anchorCtr="0">
            <a:normAutofit/>
          </a:bodyPr>
          <a:lstStyle/>
          <a:p>
            <a:r>
              <a:rPr lang="en-US" dirty="0">
                <a:latin typeface="Times New Roman" panose="02020603050405020304"/>
                <a:cs typeface="Times New Roman" panose="02020603050405020304"/>
              </a:rPr>
              <a:t>Introduction</a:t>
            </a:r>
            <a:endParaRPr lang="en-US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Arc 2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V="1">
            <a:off x="-93647" y="2693652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dirty="0">
                <a:latin typeface="Times New Roman" panose="02020603050405020304"/>
                <a:ea typeface="+mn-lt"/>
                <a:cs typeface="+mn-lt"/>
              </a:rPr>
              <a:t>In this project, we are analyzing the quality of the </a:t>
            </a:r>
            <a:r>
              <a:rPr lang="en-US" sz="2000" b="1" err="1">
                <a:latin typeface="Times New Roman" panose="02020603050405020304"/>
                <a:ea typeface="+mn-lt"/>
                <a:cs typeface="+mn-lt"/>
              </a:rPr>
              <a:t>Kıbrıs</a:t>
            </a:r>
            <a:r>
              <a:rPr lang="en-US" sz="2000" b="1" dirty="0">
                <a:latin typeface="Times New Roman" panose="02020603050405020304"/>
                <a:ea typeface="+mn-lt"/>
                <a:cs typeface="+mn-lt"/>
              </a:rPr>
              <a:t> </a:t>
            </a:r>
            <a:r>
              <a:rPr lang="en-US" sz="2000" b="1" err="1">
                <a:latin typeface="Times New Roman" panose="02020603050405020304"/>
                <a:ea typeface="+mn-lt"/>
                <a:cs typeface="+mn-lt"/>
              </a:rPr>
              <a:t>Gazetesi</a:t>
            </a:r>
            <a:r>
              <a:rPr lang="en-US" sz="2000" dirty="0">
                <a:latin typeface="Times New Roman" panose="02020603050405020304"/>
                <a:ea typeface="+mn-lt"/>
                <a:cs typeface="+mn-lt"/>
              </a:rPr>
              <a:t> website — one of the top news platforms in Northern Cyprus.</a:t>
            </a:r>
            <a:endParaRPr lang="en-US" sz="2000" dirty="0">
              <a:latin typeface="Times New Roman" panose="02020603050405020304"/>
              <a:cs typeface="Arial" panose="020B0604020202020204"/>
            </a:endParaRPr>
          </a:p>
          <a:p>
            <a:pPr>
              <a:lnSpc>
                <a:spcPct val="90000"/>
              </a:lnSpc>
            </a:pPr>
            <a:endParaRPr lang="en-US" sz="2000" dirty="0">
              <a:latin typeface="Times New Roman" panose="02020603050405020304"/>
              <a:ea typeface="+mn-lt"/>
              <a:cs typeface="+mn-lt"/>
            </a:endParaRPr>
          </a:p>
          <a:p>
            <a:pPr>
              <a:lnSpc>
                <a:spcPct val="90000"/>
              </a:lnSpc>
            </a:pPr>
            <a:r>
              <a:rPr lang="en-US" sz="2000" dirty="0">
                <a:latin typeface="Times New Roman" panose="02020603050405020304"/>
                <a:ea typeface="+mn-lt"/>
                <a:cs typeface="+mn-lt"/>
              </a:rPr>
              <a:t>Our main focus is to check how well the site performs in terms of </a:t>
            </a:r>
            <a:r>
              <a:rPr lang="en-US" sz="2000" b="1" dirty="0">
                <a:latin typeface="Times New Roman" panose="02020603050405020304"/>
                <a:ea typeface="+mn-lt"/>
                <a:cs typeface="+mn-lt"/>
              </a:rPr>
              <a:t>usability, accessibility, functionality,</a:t>
            </a:r>
            <a:r>
              <a:rPr lang="en-US" sz="2000" dirty="0">
                <a:latin typeface="Times New Roman" panose="02020603050405020304"/>
                <a:ea typeface="+mn-lt"/>
                <a:cs typeface="+mn-lt"/>
              </a:rPr>
              <a:t> and </a:t>
            </a:r>
            <a:r>
              <a:rPr lang="en-US" sz="2000" b="1" dirty="0">
                <a:latin typeface="Times New Roman" panose="02020603050405020304"/>
                <a:ea typeface="+mn-lt"/>
                <a:cs typeface="+mn-lt"/>
              </a:rPr>
              <a:t>overall user experience</a:t>
            </a:r>
            <a:r>
              <a:rPr lang="en-US" sz="2000" dirty="0">
                <a:latin typeface="Times New Roman" panose="02020603050405020304"/>
                <a:ea typeface="+mn-lt"/>
                <a:cs typeface="+mn-lt"/>
              </a:rPr>
              <a:t>.</a:t>
            </a:r>
            <a:endParaRPr lang="en-US" sz="2000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90000"/>
              </a:lnSpc>
            </a:pPr>
            <a:endParaRPr lang="en-US" sz="2000" dirty="0">
              <a:latin typeface="Times New Roman" panose="02020603050405020304"/>
              <a:ea typeface="+mn-lt"/>
              <a:cs typeface="+mn-lt"/>
            </a:endParaRPr>
          </a:p>
          <a:p>
            <a:pPr>
              <a:lnSpc>
                <a:spcPct val="90000"/>
              </a:lnSpc>
            </a:pPr>
            <a:r>
              <a:rPr lang="en-US" sz="2000" dirty="0">
                <a:latin typeface="Times New Roman" panose="02020603050405020304"/>
                <a:ea typeface="+mn-lt"/>
                <a:cs typeface="+mn-lt"/>
              </a:rPr>
              <a:t>By following a structured testing process, we aim to discover any issues or areas that could be improved.</a:t>
            </a:r>
            <a:endParaRPr lang="en-US" sz="2000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90000"/>
              </a:lnSpc>
            </a:pPr>
            <a:endParaRPr lang="en-US" sz="2000" dirty="0">
              <a:latin typeface="Times New Roman" panose="02020603050405020304"/>
              <a:ea typeface="+mn-lt"/>
              <a:cs typeface="+mn-lt"/>
            </a:endParaRPr>
          </a:p>
          <a:p>
            <a:pPr>
              <a:lnSpc>
                <a:spcPct val="90000"/>
              </a:lnSpc>
            </a:pPr>
            <a:r>
              <a:rPr lang="en-US" sz="2000" dirty="0">
                <a:latin typeface="Times New Roman" panose="02020603050405020304"/>
                <a:ea typeface="+mn-lt"/>
                <a:cs typeface="+mn-lt"/>
              </a:rPr>
              <a:t>The goal is to make sure the website is not only reliable but also easy to use and accessible for </a:t>
            </a:r>
            <a:r>
              <a:rPr lang="en-US" sz="2000" b="1" dirty="0">
                <a:latin typeface="Times New Roman" panose="02020603050405020304"/>
                <a:ea typeface="+mn-lt"/>
                <a:cs typeface="+mn-lt"/>
              </a:rPr>
              <a:t>all types of users</a:t>
            </a:r>
            <a:r>
              <a:rPr lang="en-US" sz="2000" dirty="0">
                <a:latin typeface="Times New Roman" panose="02020603050405020304"/>
                <a:ea typeface="+mn-lt"/>
                <a:cs typeface="+mn-lt"/>
              </a:rPr>
              <a:t>.</a:t>
            </a:r>
            <a:endParaRPr lang="en-US" sz="2000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90000"/>
              </a:lnSpc>
            </a:pPr>
            <a:endParaRPr lang="en-US" sz="2000" dirty="0">
              <a:latin typeface="Times New Roman" panose="020206030504050203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0" y="0"/>
            <a:ext cx="4472088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916395" cy="1800526"/>
          </a:xfrm>
        </p:spPr>
        <p:txBody>
          <a:bodyPr lIns="91440" tIns="45720" rIns="91440" bIns="45720" anchor="ctr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3700" dirty="0">
                <a:latin typeface="Times New Roman" panose="02020603050405020304"/>
                <a:cs typeface="Times New Roman" panose="02020603050405020304"/>
                <a:sym typeface="+mn-ea"/>
              </a:rPr>
              <a:t>Team Roles &amp; Work Distribution</a:t>
            </a:r>
            <a:endParaRPr lang="en-US" sz="37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623381"/>
            <a:ext cx="2916396" cy="3553581"/>
          </a:xfrm>
        </p:spPr>
        <p:txBody>
          <a:bodyPr lIns="91440" tIns="45720" rIns="91440" bIns="45720">
            <a:normAutofit/>
          </a:bodyPr>
          <a:lstStyle/>
          <a:p>
            <a:pPr>
              <a:buNone/>
            </a:pPr>
            <a:endParaRPr lang="en-US" sz="1700" b="1">
              <a:cs typeface="Arial" panose="020B0604020202020204"/>
            </a:endParaRPr>
          </a:p>
          <a:p>
            <a:pPr marL="0" indent="0">
              <a:buNone/>
            </a:pPr>
            <a:endParaRPr lang="en-US" altLang="en-US" sz="1700">
              <a:effectLst>
                <a:outerShdw blurRad="38100" dist="19050" dir="2700000" algn="tl" rotWithShape="0">
                  <a:srgbClr val="000000">
                    <a:alpha val="40000"/>
                  </a:srgbClr>
                </a:outerShdw>
              </a:effectLst>
              <a:cs typeface="Arial" panose="020B0604020202020204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050437" y="898863"/>
          <a:ext cx="4949077" cy="311157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44433"/>
                <a:gridCol w="1358190"/>
                <a:gridCol w="1946454"/>
              </a:tblGrid>
              <a:tr h="3071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effectLst/>
                          <a:latin typeface="Times New Roman" panose="02020603050405020304"/>
                          <a:ea typeface="MS Mincho"/>
                          <a:cs typeface="Times New Roman" panose="02020603050405020304"/>
                        </a:rPr>
                        <a:t>Team Members</a:t>
                      </a:r>
                      <a:endParaRPr lang="en-GB" sz="1800">
                        <a:effectLst/>
                        <a:latin typeface="Times New Roman" panose="02020603050405020304"/>
                        <a:ea typeface="MS Mincho"/>
                        <a:cs typeface="Times New Roman" panose="02020603050405020304"/>
                      </a:endParaRPr>
                    </a:p>
                  </a:txBody>
                  <a:tcPr marL="70052" marR="70052" marT="46701" marB="4670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effectLst/>
                          <a:latin typeface="Times New Roman" panose="02020603050405020304"/>
                          <a:ea typeface="MS Mincho"/>
                          <a:cs typeface="Times New Roman" panose="02020603050405020304"/>
                        </a:rPr>
                        <a:t>Roles</a:t>
                      </a:r>
                      <a:endParaRPr lang="en-GB" sz="1800">
                        <a:effectLst/>
                        <a:latin typeface="Times New Roman" panose="02020603050405020304"/>
                        <a:ea typeface="MS Mincho"/>
                        <a:cs typeface="Times New Roman" panose="02020603050405020304"/>
                      </a:endParaRPr>
                    </a:p>
                  </a:txBody>
                  <a:tcPr marL="70052" marR="70052" marT="46701" marB="4670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effectLst/>
                          <a:latin typeface="Times New Roman" panose="02020603050405020304"/>
                          <a:ea typeface="MS Mincho"/>
                          <a:cs typeface="Times New Roman" panose="02020603050405020304"/>
                        </a:rPr>
                        <a:t>Key Tasks</a:t>
                      </a:r>
                      <a:endParaRPr lang="en-GB" sz="1800">
                        <a:effectLst/>
                        <a:latin typeface="Times New Roman" panose="02020603050405020304"/>
                        <a:ea typeface="MS Mincho"/>
                        <a:cs typeface="Times New Roman" panose="02020603050405020304"/>
                      </a:endParaRPr>
                    </a:p>
                  </a:txBody>
                  <a:tcPr marL="70052" marR="70052" marT="46701" marB="4670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24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effectLst/>
                          <a:latin typeface="Times New Roman" panose="02020603050405020304"/>
                          <a:ea typeface="MS Mincho"/>
                          <a:cs typeface="Times New Roman" panose="02020603050405020304"/>
                        </a:rPr>
                        <a:t>Maaz Qureshi</a:t>
                      </a:r>
                      <a:endParaRPr lang="en-GB" sz="1800">
                        <a:effectLst/>
                        <a:latin typeface="Times New Roman" panose="02020603050405020304"/>
                        <a:ea typeface="MS Mincho"/>
                        <a:cs typeface="Times New Roman" panose="02020603050405020304"/>
                      </a:endParaRPr>
                    </a:p>
                  </a:txBody>
                  <a:tcPr marL="70052" marR="70052" marT="46701" marB="4670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effectLst/>
                          <a:latin typeface="Times New Roman" panose="02020603050405020304"/>
                          <a:ea typeface="MS Mincho"/>
                          <a:cs typeface="Times New Roman" panose="02020603050405020304"/>
                        </a:rPr>
                        <a:t>Project Manager/ Support Tester</a:t>
                      </a:r>
                      <a:endParaRPr lang="en-GB" sz="1800">
                        <a:effectLst/>
                        <a:latin typeface="Times New Roman" panose="02020603050405020304"/>
                        <a:ea typeface="MS Mincho"/>
                        <a:cs typeface="Times New Roman" panose="02020603050405020304"/>
                      </a:endParaRPr>
                    </a:p>
                  </a:txBody>
                  <a:tcPr marL="70052" marR="70052" marT="46701" marB="4670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effectLst/>
                          <a:latin typeface="Times New Roman" panose="02020603050405020304"/>
                          <a:ea typeface="MS Mincho"/>
                          <a:cs typeface="Times New Roman" panose="02020603050405020304"/>
                        </a:rPr>
                        <a:t>Organize meetings, track progress, compile reports, and assist in testing</a:t>
                      </a:r>
                      <a:endParaRPr lang="en-GB" sz="1800">
                        <a:effectLst/>
                        <a:latin typeface="Times New Roman" panose="02020603050405020304"/>
                        <a:ea typeface="MS Mincho"/>
                        <a:cs typeface="Times New Roman" panose="02020603050405020304"/>
                      </a:endParaRPr>
                    </a:p>
                  </a:txBody>
                  <a:tcPr marL="70052" marR="70052" marT="46701" marB="4670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639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effectLst/>
                          <a:latin typeface="Times New Roman" panose="02020603050405020304"/>
                          <a:ea typeface="MS Mincho"/>
                          <a:cs typeface="Times New Roman" panose="02020603050405020304"/>
                        </a:rPr>
                        <a:t>Hasan Orkan</a:t>
                      </a:r>
                      <a:endParaRPr lang="en-GB" sz="1800">
                        <a:effectLst/>
                        <a:latin typeface="Times New Roman" panose="02020603050405020304"/>
                        <a:ea typeface="MS Mincho"/>
                        <a:cs typeface="Times New Roman" panose="02020603050405020304"/>
                      </a:endParaRPr>
                    </a:p>
                  </a:txBody>
                  <a:tcPr marL="70052" marR="70052" marT="46701" marB="4670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effectLst/>
                          <a:latin typeface="Times New Roman" panose="02020603050405020304"/>
                          <a:ea typeface="MS Mincho"/>
                          <a:cs typeface="Times New Roman" panose="02020603050405020304"/>
                        </a:rPr>
                        <a:t>Main Tester</a:t>
                      </a:r>
                      <a:endParaRPr lang="en-GB" sz="1800">
                        <a:effectLst/>
                        <a:latin typeface="Times New Roman" panose="02020603050405020304"/>
                        <a:ea typeface="MS Mincho"/>
                        <a:cs typeface="Times New Roman" panose="02020603050405020304"/>
                      </a:endParaRPr>
                    </a:p>
                  </a:txBody>
                  <a:tcPr marL="70052" marR="70052" marT="46701" marB="4670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effectLst/>
                          <a:latin typeface="Times New Roman" panose="02020603050405020304"/>
                          <a:ea typeface="MS Mincho"/>
                          <a:cs typeface="Times New Roman" panose="02020603050405020304"/>
                        </a:rPr>
                        <a:t>Conduct main quality assurance tests</a:t>
                      </a:r>
                      <a:endParaRPr lang="en-GB" sz="1800">
                        <a:effectLst/>
                        <a:latin typeface="Times New Roman" panose="02020603050405020304"/>
                        <a:ea typeface="MS Mincho"/>
                        <a:cs typeface="Times New Roman" panose="02020603050405020304"/>
                      </a:endParaRPr>
                    </a:p>
                  </a:txBody>
                  <a:tcPr marL="70052" marR="70052" marT="46701" marB="4670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54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effectLst/>
                          <a:latin typeface="Times New Roman" panose="02020603050405020304"/>
                          <a:ea typeface="MS Mincho"/>
                          <a:cs typeface="Times New Roman" panose="02020603050405020304"/>
                        </a:rPr>
                        <a:t>Saad Ahmed</a:t>
                      </a:r>
                      <a:endParaRPr lang="en-GB" sz="1800">
                        <a:effectLst/>
                        <a:latin typeface="Times New Roman" panose="02020603050405020304"/>
                        <a:ea typeface="MS Mincho"/>
                        <a:cs typeface="Times New Roman" panose="02020603050405020304"/>
                      </a:endParaRPr>
                    </a:p>
                  </a:txBody>
                  <a:tcPr marL="70052" marR="70052" marT="46701" marB="4670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effectLst/>
                          <a:latin typeface="Times New Roman" panose="02020603050405020304"/>
                          <a:ea typeface="MS Mincho"/>
                          <a:cs typeface="Times New Roman" panose="02020603050405020304"/>
                        </a:rPr>
                        <a:t>Support Tester</a:t>
                      </a:r>
                      <a:endParaRPr lang="en-GB" sz="1800">
                        <a:effectLst/>
                        <a:latin typeface="Times New Roman" panose="02020603050405020304"/>
                        <a:ea typeface="MS Mincho"/>
                        <a:cs typeface="Times New Roman" panose="02020603050405020304"/>
                      </a:endParaRPr>
                    </a:p>
                  </a:txBody>
                  <a:tcPr marL="70052" marR="70052" marT="46701" marB="4670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effectLst/>
                          <a:latin typeface="Times New Roman" panose="02020603050405020304"/>
                          <a:ea typeface="MS Mincho"/>
                          <a:cs typeface="Times New Roman" panose="02020603050405020304"/>
                        </a:rPr>
                        <a:t>Assist in testing and report issues</a:t>
                      </a:r>
                      <a:endParaRPr lang="en-GB" sz="1800">
                        <a:effectLst/>
                        <a:latin typeface="Times New Roman" panose="02020603050405020304"/>
                        <a:ea typeface="MS Mincho"/>
                        <a:cs typeface="Times New Roman" panose="02020603050405020304"/>
                      </a:endParaRPr>
                    </a:p>
                  </a:txBody>
                  <a:tcPr marL="70052" marR="70052" marT="46701" marB="4670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24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effectLst/>
                          <a:latin typeface="Times New Roman" panose="02020603050405020304"/>
                          <a:ea typeface="MS Mincho"/>
                          <a:cs typeface="Times New Roman" panose="02020603050405020304"/>
                        </a:rPr>
                        <a:t>Samet Metehan </a:t>
                      </a:r>
                      <a:r>
                        <a:rPr lang="en-GB" sz="1100" err="1">
                          <a:effectLst/>
                          <a:latin typeface="Times New Roman" panose="02020603050405020304"/>
                          <a:ea typeface="MS Mincho"/>
                          <a:cs typeface="Times New Roman" panose="02020603050405020304"/>
                        </a:rPr>
                        <a:t>Özyener</a:t>
                      </a:r>
                      <a:endParaRPr lang="en-GB" sz="1800">
                        <a:effectLst/>
                        <a:latin typeface="Times New Roman" panose="02020603050405020304"/>
                        <a:ea typeface="MS Mincho"/>
                        <a:cs typeface="Times New Roman" panose="02020603050405020304"/>
                      </a:endParaRPr>
                    </a:p>
                  </a:txBody>
                  <a:tcPr marL="70052" marR="70052" marT="46701" marB="4670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effectLst/>
                          <a:latin typeface="Times New Roman" panose="02020603050405020304"/>
                          <a:ea typeface="MS Mincho"/>
                          <a:cs typeface="Times New Roman" panose="02020603050405020304"/>
                        </a:rPr>
                        <a:t>Report Writer/ Support Tester</a:t>
                      </a:r>
                      <a:endParaRPr lang="en-GB" sz="1800">
                        <a:effectLst/>
                        <a:latin typeface="Times New Roman" panose="02020603050405020304"/>
                        <a:ea typeface="MS Mincho"/>
                        <a:cs typeface="Times New Roman" panose="02020603050405020304"/>
                      </a:endParaRPr>
                    </a:p>
                  </a:txBody>
                  <a:tcPr marL="70052" marR="70052" marT="46701" marB="4670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effectLst/>
                          <a:latin typeface="Times New Roman" panose="02020603050405020304"/>
                          <a:ea typeface="MS Mincho"/>
                          <a:cs typeface="Times New Roman" panose="02020603050405020304"/>
                        </a:rPr>
                        <a:t>Format reports and assist in testing</a:t>
                      </a:r>
                      <a:endParaRPr lang="en-GB" sz="1800">
                        <a:effectLst/>
                        <a:latin typeface="Times New Roman" panose="02020603050405020304"/>
                        <a:ea typeface="MS Mincho"/>
                        <a:cs typeface="Times New Roman" panose="02020603050405020304"/>
                      </a:endParaRPr>
                    </a:p>
                  </a:txBody>
                  <a:tcPr marL="70052" marR="70052" marT="46701" marB="4670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" name="Rectangle 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7" name="Rectangle 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 lIns="91440" tIns="45720" rIns="91440" bIns="45720" anchor="ctr" anchorCtr="0">
            <a:normAutofit/>
          </a:bodyPr>
          <a:lstStyle/>
          <a:p>
            <a:r>
              <a:rPr lang="tr-TR" sz="3500" err="1">
                <a:latin typeface="Times New Roman" panose="02020603050405020304"/>
                <a:cs typeface="Times New Roman" panose="02020603050405020304"/>
              </a:rPr>
              <a:t>Brief</a:t>
            </a:r>
            <a:r>
              <a:rPr lang="tr-TR" sz="3500" dirty="0">
                <a:latin typeface="Times New Roman" panose="02020603050405020304"/>
                <a:cs typeface="Times New Roman" panose="02020603050405020304"/>
              </a:rPr>
              <a:t> Information </a:t>
            </a:r>
            <a:r>
              <a:rPr lang="tr-TR" sz="3500" err="1">
                <a:latin typeface="Times New Roman" panose="02020603050405020304"/>
                <a:cs typeface="Times New Roman" panose="02020603050405020304"/>
              </a:rPr>
              <a:t>About</a:t>
            </a:r>
            <a:r>
              <a:rPr lang="tr-TR" sz="35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tr-TR" sz="3500" err="1">
                <a:latin typeface="Times New Roman" panose="02020603050405020304"/>
                <a:cs typeface="Times New Roman" panose="02020603050405020304"/>
              </a:rPr>
              <a:t>Website</a:t>
            </a:r>
            <a:endParaRPr lang="tr-TR" sz="3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6676" y="2481943"/>
            <a:ext cx="7626096" cy="3695020"/>
          </a:xfrm>
        </p:spPr>
        <p:txBody>
          <a:bodyPr lIns="91440" tIns="45720" rIns="91440" bIns="45720" anchor="t">
            <a:normAutofit fontScale="60000"/>
          </a:bodyPr>
          <a:lstStyle/>
          <a:p>
            <a:r>
              <a:rPr lang="tr-TR" sz="2000" b="1" dirty="0">
                <a:latin typeface="Times New Roman" panose="02020603050405020304"/>
                <a:ea typeface="+mn-lt"/>
                <a:cs typeface="+mn-lt"/>
              </a:rPr>
              <a:t>Kıbrıs Gazetesi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 is a </a:t>
            </a:r>
            <a:r>
              <a:rPr lang="tr-TR" sz="2000" dirty="0" err="1">
                <a:latin typeface="Times New Roman" panose="02020603050405020304"/>
                <a:ea typeface="+mn-lt"/>
                <a:cs typeface="+mn-lt"/>
              </a:rPr>
              <a:t>well-known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 </a:t>
            </a:r>
            <a:r>
              <a:rPr lang="tr-TR" sz="2000" dirty="0" err="1">
                <a:latin typeface="Times New Roman" panose="02020603050405020304"/>
                <a:ea typeface="+mn-lt"/>
                <a:cs typeface="+mn-lt"/>
              </a:rPr>
              <a:t>newspaper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 in </a:t>
            </a:r>
            <a:r>
              <a:rPr lang="tr-TR" sz="2000" b="1" dirty="0" err="1">
                <a:latin typeface="Times New Roman" panose="02020603050405020304"/>
                <a:ea typeface="+mn-lt"/>
                <a:cs typeface="+mn-lt"/>
              </a:rPr>
              <a:t>Northern</a:t>
            </a:r>
            <a:r>
              <a:rPr lang="tr-TR" sz="2000" b="1" dirty="0">
                <a:latin typeface="Times New Roman" panose="02020603050405020304"/>
                <a:ea typeface="+mn-lt"/>
                <a:cs typeface="+mn-lt"/>
              </a:rPr>
              <a:t> </a:t>
            </a:r>
            <a:r>
              <a:rPr lang="tr-TR" sz="2000" b="1" dirty="0" err="1">
                <a:latin typeface="Times New Roman" panose="02020603050405020304"/>
                <a:ea typeface="+mn-lt"/>
                <a:cs typeface="+mn-lt"/>
              </a:rPr>
              <a:t>Cyprus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, </a:t>
            </a:r>
            <a:r>
              <a:rPr lang="tr-TR" sz="2000" dirty="0" err="1">
                <a:latin typeface="Times New Roman" panose="02020603050405020304"/>
                <a:ea typeface="+mn-lt"/>
                <a:cs typeface="+mn-lt"/>
              </a:rPr>
              <a:t>active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 since </a:t>
            </a:r>
            <a:r>
              <a:rPr lang="tr-TR" sz="2000" b="1" dirty="0">
                <a:latin typeface="Times New Roman" panose="02020603050405020304"/>
                <a:ea typeface="+mn-lt"/>
                <a:cs typeface="+mn-lt"/>
              </a:rPr>
              <a:t>1989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, </a:t>
            </a:r>
            <a:r>
              <a:rPr lang="tr-TR" sz="2000" dirty="0" err="1">
                <a:latin typeface="Times New Roman" panose="02020603050405020304"/>
                <a:ea typeface="+mn-lt"/>
                <a:cs typeface="+mn-lt"/>
              </a:rPr>
              <a:t>now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 </a:t>
            </a:r>
            <a:r>
              <a:rPr lang="tr-TR" sz="2000" dirty="0" err="1">
                <a:latin typeface="Times New Roman" panose="02020603050405020304"/>
                <a:ea typeface="+mn-lt"/>
                <a:cs typeface="+mn-lt"/>
              </a:rPr>
              <a:t>available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 online.</a:t>
            </a:r>
            <a:endParaRPr lang="tr-TR" sz="2000">
              <a:latin typeface="Times New Roman" panose="02020603050405020304"/>
              <a:cs typeface="Arial" panose="020B0604020202020204"/>
            </a:endParaRPr>
          </a:p>
          <a:p>
            <a:pPr marL="0" indent="0">
              <a:buNone/>
            </a:pP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        </a:t>
            </a:r>
            <a:r>
              <a:rPr lang="tr-TR" sz="2000" dirty="0" err="1">
                <a:latin typeface="Times New Roman" panose="02020603050405020304"/>
                <a:ea typeface="+mn-lt"/>
                <a:cs typeface="+mn-lt"/>
              </a:rPr>
              <a:t>The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 </a:t>
            </a:r>
            <a:r>
              <a:rPr lang="tr-TR" sz="2000" dirty="0" err="1">
                <a:latin typeface="Times New Roman" panose="02020603050405020304"/>
                <a:ea typeface="+mn-lt"/>
                <a:cs typeface="+mn-lt"/>
              </a:rPr>
              <a:t>website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 </a:t>
            </a:r>
            <a:r>
              <a:rPr lang="tr-TR" sz="2000" dirty="0" err="1">
                <a:latin typeface="Times New Roman" panose="02020603050405020304"/>
                <a:ea typeface="+mn-lt"/>
                <a:cs typeface="+mn-lt"/>
              </a:rPr>
              <a:t>covers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:</a:t>
            </a:r>
            <a:endParaRPr lang="tr-TR" sz="2000">
              <a:latin typeface="Times New Roman" panose="02020603050405020304"/>
              <a:cs typeface="Arial" panose="020B0604020202020204"/>
            </a:endParaRPr>
          </a:p>
          <a:p>
            <a:r>
              <a:rPr lang="tr-TR" sz="2000" b="1" dirty="0">
                <a:latin typeface="Times New Roman" panose="02020603050405020304"/>
                <a:ea typeface="+mn-lt"/>
                <a:cs typeface="+mn-lt"/>
              </a:rPr>
              <a:t>TRNC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, </a:t>
            </a:r>
            <a:r>
              <a:rPr lang="tr-TR" sz="2000" b="1" dirty="0" err="1">
                <a:latin typeface="Times New Roman" panose="02020603050405020304"/>
                <a:ea typeface="+mn-lt"/>
                <a:cs typeface="+mn-lt"/>
              </a:rPr>
              <a:t>Turkey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, </a:t>
            </a:r>
            <a:r>
              <a:rPr lang="tr-TR" sz="2000" b="1" dirty="0">
                <a:latin typeface="Times New Roman" panose="02020603050405020304"/>
                <a:ea typeface="+mn-lt"/>
                <a:cs typeface="+mn-lt"/>
              </a:rPr>
              <a:t>Global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, </a:t>
            </a:r>
            <a:r>
              <a:rPr lang="tr-TR" sz="2000" dirty="0" err="1">
                <a:latin typeface="Times New Roman" panose="02020603050405020304"/>
                <a:ea typeface="+mn-lt"/>
                <a:cs typeface="+mn-lt"/>
              </a:rPr>
              <a:t>and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 </a:t>
            </a:r>
            <a:r>
              <a:rPr lang="tr-TR" sz="2000" b="1" dirty="0" err="1">
                <a:latin typeface="Times New Roman" panose="02020603050405020304"/>
                <a:ea typeface="+mn-lt"/>
                <a:cs typeface="+mn-lt"/>
              </a:rPr>
              <a:t>Greek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 </a:t>
            </a:r>
            <a:r>
              <a:rPr lang="tr-TR" sz="2000" dirty="0" err="1">
                <a:latin typeface="Times New Roman" panose="02020603050405020304"/>
                <a:ea typeface="+mn-lt"/>
                <a:cs typeface="+mn-lt"/>
              </a:rPr>
              <a:t>news</a:t>
            </a:r>
            <a:endParaRPr lang="tr-TR" sz="2000">
              <a:latin typeface="Times New Roman" panose="02020603050405020304"/>
              <a:cs typeface="Arial" panose="020B0604020202020204"/>
            </a:endParaRPr>
          </a:p>
          <a:p>
            <a:r>
              <a:rPr lang="tr-TR" sz="2000" b="1" dirty="0" err="1">
                <a:latin typeface="Times New Roman" panose="02020603050405020304"/>
                <a:ea typeface="+mn-lt"/>
                <a:cs typeface="+mn-lt"/>
              </a:rPr>
              <a:t>Articles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, </a:t>
            </a:r>
            <a:r>
              <a:rPr lang="tr-TR" sz="2000" b="1" dirty="0" err="1">
                <a:latin typeface="Times New Roman" panose="02020603050405020304"/>
                <a:ea typeface="+mn-lt"/>
                <a:cs typeface="+mn-lt"/>
              </a:rPr>
              <a:t>sports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, </a:t>
            </a:r>
            <a:r>
              <a:rPr lang="tr-TR" sz="2000" b="1" dirty="0" err="1">
                <a:latin typeface="Times New Roman" panose="02020603050405020304"/>
                <a:ea typeface="+mn-lt"/>
                <a:cs typeface="+mn-lt"/>
              </a:rPr>
              <a:t>economy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, </a:t>
            </a:r>
            <a:r>
              <a:rPr lang="tr-TR" sz="2000" b="1" dirty="0" err="1">
                <a:latin typeface="Times New Roman" panose="02020603050405020304"/>
                <a:ea typeface="+mn-lt"/>
                <a:cs typeface="+mn-lt"/>
              </a:rPr>
              <a:t>interviews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, </a:t>
            </a:r>
            <a:r>
              <a:rPr lang="tr-TR" sz="2000" b="1" dirty="0" err="1">
                <a:latin typeface="Times New Roman" panose="02020603050405020304"/>
                <a:ea typeface="+mn-lt"/>
                <a:cs typeface="+mn-lt"/>
              </a:rPr>
              <a:t>videos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, </a:t>
            </a:r>
            <a:r>
              <a:rPr lang="tr-TR" sz="2000" dirty="0" err="1">
                <a:latin typeface="Times New Roman" panose="02020603050405020304"/>
                <a:ea typeface="+mn-lt"/>
                <a:cs typeface="+mn-lt"/>
              </a:rPr>
              <a:t>and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 </a:t>
            </a:r>
            <a:r>
              <a:rPr lang="tr-TR" sz="2000" dirty="0" err="1">
                <a:latin typeface="Times New Roman" panose="02020603050405020304"/>
                <a:ea typeface="+mn-lt"/>
                <a:cs typeface="+mn-lt"/>
              </a:rPr>
              <a:t>more</a:t>
            </a:r>
            <a:endParaRPr lang="tr-TR" sz="2000">
              <a:latin typeface="Times New Roman" panose="02020603050405020304"/>
              <a:cs typeface="Arial" panose="020B0604020202020204"/>
            </a:endParaRPr>
          </a:p>
          <a:p>
            <a:r>
              <a:rPr lang="tr-TR" sz="2000" dirty="0" err="1">
                <a:latin typeface="Times New Roman" panose="02020603050405020304"/>
                <a:ea typeface="+mn-lt"/>
                <a:cs typeface="+mn-lt"/>
              </a:rPr>
              <a:t>Users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 can </a:t>
            </a:r>
            <a:r>
              <a:rPr lang="tr-TR" sz="2000" dirty="0" err="1">
                <a:latin typeface="Times New Roman" panose="02020603050405020304"/>
                <a:ea typeface="+mn-lt"/>
                <a:cs typeface="+mn-lt"/>
              </a:rPr>
              <a:t>also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 </a:t>
            </a:r>
            <a:r>
              <a:rPr lang="tr-TR" sz="2000" dirty="0" err="1">
                <a:latin typeface="Times New Roman" panose="02020603050405020304"/>
                <a:ea typeface="+mn-lt"/>
                <a:cs typeface="+mn-lt"/>
              </a:rPr>
              <a:t>access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:</a:t>
            </a:r>
            <a:endParaRPr lang="tr-TR" sz="2000">
              <a:latin typeface="Times New Roman" panose="02020603050405020304"/>
              <a:cs typeface="Arial" panose="020B0604020202020204"/>
            </a:endParaRPr>
          </a:p>
          <a:p>
            <a:r>
              <a:rPr lang="tr-TR" sz="2000" b="1" dirty="0">
                <a:latin typeface="Times New Roman" panose="02020603050405020304"/>
                <a:ea typeface="+mn-lt"/>
                <a:cs typeface="+mn-lt"/>
              </a:rPr>
              <a:t>Live TV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 </a:t>
            </a:r>
            <a:r>
              <a:rPr lang="tr-TR" sz="2000" dirty="0" err="1">
                <a:latin typeface="Times New Roman" panose="02020603050405020304"/>
                <a:ea typeface="+mn-lt"/>
                <a:cs typeface="+mn-lt"/>
              </a:rPr>
              <a:t>and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 </a:t>
            </a:r>
            <a:r>
              <a:rPr lang="tr-TR" sz="2000" b="1" dirty="0" err="1">
                <a:latin typeface="Times New Roman" panose="02020603050405020304"/>
                <a:ea typeface="+mn-lt"/>
                <a:cs typeface="+mn-lt"/>
              </a:rPr>
              <a:t>radio</a:t>
            </a:r>
            <a:endParaRPr lang="tr-TR" sz="2000">
              <a:latin typeface="Times New Roman" panose="02020603050405020304"/>
              <a:cs typeface="Arial" panose="020B0604020202020204"/>
            </a:endParaRPr>
          </a:p>
          <a:p>
            <a:r>
              <a:rPr lang="tr-TR" sz="2000" b="1" dirty="0">
                <a:latin typeface="Times New Roman" panose="02020603050405020304"/>
                <a:ea typeface="+mn-lt"/>
                <a:cs typeface="+mn-lt"/>
              </a:rPr>
              <a:t>Main </a:t>
            </a:r>
            <a:r>
              <a:rPr lang="tr-TR" sz="2000" b="1" dirty="0" err="1">
                <a:latin typeface="Times New Roman" panose="02020603050405020304"/>
                <a:ea typeface="+mn-lt"/>
                <a:cs typeface="+mn-lt"/>
              </a:rPr>
              <a:t>Sections</a:t>
            </a:r>
            <a:r>
              <a:rPr lang="tr-TR" sz="2000" b="1" dirty="0">
                <a:latin typeface="Times New Roman" panose="02020603050405020304"/>
                <a:ea typeface="+mn-lt"/>
                <a:cs typeface="+mn-lt"/>
              </a:rPr>
              <a:t>:</a:t>
            </a:r>
            <a:endParaRPr lang="tr-TR" sz="2000">
              <a:latin typeface="Times New Roman" panose="02020603050405020304"/>
              <a:cs typeface="Arial" panose="020B0604020202020204"/>
            </a:endParaRPr>
          </a:p>
          <a:p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TRNC, </a:t>
            </a:r>
            <a:r>
              <a:rPr lang="tr-TR" sz="2000" dirty="0" err="1">
                <a:latin typeface="Times New Roman" panose="02020603050405020304"/>
                <a:ea typeface="+mn-lt"/>
                <a:cs typeface="+mn-lt"/>
              </a:rPr>
              <a:t>Greek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 </a:t>
            </a:r>
            <a:r>
              <a:rPr lang="tr-TR" sz="2000" dirty="0" err="1">
                <a:latin typeface="Times New Roman" panose="02020603050405020304"/>
                <a:ea typeface="+mn-lt"/>
                <a:cs typeface="+mn-lt"/>
              </a:rPr>
              <a:t>Press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, World, </a:t>
            </a:r>
            <a:r>
              <a:rPr lang="tr-TR" sz="2000" dirty="0" err="1">
                <a:latin typeface="Times New Roman" panose="02020603050405020304"/>
                <a:ea typeface="+mn-lt"/>
                <a:cs typeface="+mn-lt"/>
              </a:rPr>
              <a:t>Economy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, Sports, </a:t>
            </a:r>
            <a:r>
              <a:rPr lang="tr-TR" sz="2000" dirty="0" err="1">
                <a:latin typeface="Times New Roman" panose="02020603050405020304"/>
                <a:ea typeface="+mn-lt"/>
                <a:cs typeface="+mn-lt"/>
              </a:rPr>
              <a:t>Interviews</a:t>
            </a:r>
            <a:endParaRPr lang="tr-TR" sz="2000">
              <a:latin typeface="Times New Roman" panose="02020603050405020304"/>
              <a:cs typeface="Arial" panose="020B0604020202020204"/>
            </a:endParaRPr>
          </a:p>
          <a:p>
            <a:r>
              <a:rPr lang="tr-TR" sz="2000" dirty="0" err="1">
                <a:latin typeface="Times New Roman" panose="02020603050405020304"/>
                <a:ea typeface="+mn-lt"/>
                <a:cs typeface="+mn-lt"/>
              </a:rPr>
              <a:t>Authors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 (</a:t>
            </a:r>
            <a:r>
              <a:rPr lang="tr-TR" sz="2000" dirty="0" err="1">
                <a:latin typeface="Times New Roman" panose="02020603050405020304"/>
                <a:ea typeface="+mn-lt"/>
                <a:cs typeface="+mn-lt"/>
              </a:rPr>
              <a:t>Columns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), </a:t>
            </a:r>
            <a:r>
              <a:rPr lang="tr-TR" sz="2000" dirty="0" err="1">
                <a:latin typeface="Times New Roman" panose="02020603050405020304"/>
                <a:ea typeface="+mn-lt"/>
                <a:cs typeface="+mn-lt"/>
              </a:rPr>
              <a:t>Obituaries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 (</a:t>
            </a:r>
            <a:r>
              <a:rPr lang="tr-TR" sz="2000" dirty="0" err="1">
                <a:latin typeface="Times New Roman" panose="02020603050405020304"/>
                <a:ea typeface="+mn-lt"/>
                <a:cs typeface="+mn-lt"/>
              </a:rPr>
              <a:t>Deaths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), </a:t>
            </a:r>
            <a:r>
              <a:rPr lang="tr-TR" sz="2000" dirty="0" err="1">
                <a:latin typeface="Times New Roman" panose="02020603050405020304"/>
                <a:ea typeface="+mn-lt"/>
                <a:cs typeface="+mn-lt"/>
              </a:rPr>
              <a:t>All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 News</a:t>
            </a:r>
            <a:endParaRPr lang="tr-TR" sz="2000">
              <a:latin typeface="Times New Roman" panose="02020603050405020304"/>
              <a:cs typeface="Arial" panose="020B0604020202020204"/>
            </a:endParaRPr>
          </a:p>
          <a:p>
            <a:pPr marL="0" indent="0">
              <a:buNone/>
            </a:pPr>
            <a:r>
              <a:rPr lang="tr-TR" sz="2000" b="1" dirty="0">
                <a:latin typeface="Times New Roman" panose="02020603050405020304"/>
                <a:ea typeface="+mn-lt"/>
                <a:cs typeface="+mn-lt"/>
              </a:rPr>
              <a:t>         </a:t>
            </a:r>
            <a:r>
              <a:rPr lang="tr-TR" sz="2000" b="1" dirty="0" err="1">
                <a:latin typeface="Times New Roman" panose="02020603050405020304"/>
                <a:ea typeface="+mn-lt"/>
                <a:cs typeface="+mn-lt"/>
              </a:rPr>
              <a:t>Homepage</a:t>
            </a:r>
            <a:r>
              <a:rPr lang="tr-TR" sz="2000" b="1" dirty="0">
                <a:latin typeface="Times New Roman" panose="02020603050405020304"/>
                <a:ea typeface="+mn-lt"/>
                <a:cs typeface="+mn-lt"/>
              </a:rPr>
              <a:t> </a:t>
            </a:r>
            <a:r>
              <a:rPr lang="tr-TR" sz="2000" b="1" dirty="0" err="1">
                <a:latin typeface="Times New Roman" panose="02020603050405020304"/>
                <a:ea typeface="+mn-lt"/>
                <a:cs typeface="+mn-lt"/>
              </a:rPr>
              <a:t>Highlights</a:t>
            </a:r>
            <a:r>
              <a:rPr lang="tr-TR" sz="2000" b="1" dirty="0">
                <a:latin typeface="Times New Roman" panose="02020603050405020304"/>
                <a:ea typeface="+mn-lt"/>
                <a:cs typeface="+mn-lt"/>
              </a:rPr>
              <a:t>:</a:t>
            </a:r>
            <a:endParaRPr lang="tr-TR" sz="2000">
              <a:latin typeface="Times New Roman" panose="02020603050405020304"/>
              <a:cs typeface="Arial" panose="020B0604020202020204"/>
            </a:endParaRPr>
          </a:p>
          <a:p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Top </a:t>
            </a:r>
            <a:r>
              <a:rPr lang="tr-TR" sz="2000" dirty="0" err="1">
                <a:latin typeface="Times New Roman" panose="02020603050405020304"/>
                <a:ea typeface="+mn-lt"/>
                <a:cs typeface="+mn-lt"/>
              </a:rPr>
              <a:t>news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, </a:t>
            </a:r>
            <a:r>
              <a:rPr lang="tr-TR" sz="2000" dirty="0" err="1">
                <a:latin typeface="Times New Roman" panose="02020603050405020304"/>
                <a:ea typeface="+mn-lt"/>
                <a:cs typeface="+mn-lt"/>
              </a:rPr>
              <a:t>author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 </a:t>
            </a:r>
            <a:r>
              <a:rPr lang="tr-TR" sz="2000" dirty="0" err="1">
                <a:latin typeface="Times New Roman" panose="02020603050405020304"/>
                <a:ea typeface="+mn-lt"/>
                <a:cs typeface="+mn-lt"/>
              </a:rPr>
              <a:t>articles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, YouTube </a:t>
            </a:r>
            <a:r>
              <a:rPr lang="tr-TR" sz="2000" dirty="0" err="1">
                <a:latin typeface="Times New Roman" panose="02020603050405020304"/>
                <a:ea typeface="+mn-lt"/>
                <a:cs typeface="+mn-lt"/>
              </a:rPr>
              <a:t>videos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, </a:t>
            </a:r>
            <a:r>
              <a:rPr lang="tr-TR" sz="2000" dirty="0" err="1">
                <a:latin typeface="Times New Roman" panose="02020603050405020304"/>
                <a:ea typeface="+mn-lt"/>
                <a:cs typeface="+mn-lt"/>
              </a:rPr>
              <a:t>exchange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 </a:t>
            </a:r>
            <a:r>
              <a:rPr lang="tr-TR" sz="2000" dirty="0" err="1">
                <a:latin typeface="Times New Roman" panose="02020603050405020304"/>
                <a:ea typeface="+mn-lt"/>
                <a:cs typeface="+mn-lt"/>
              </a:rPr>
              <a:t>rates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, </a:t>
            </a:r>
            <a:r>
              <a:rPr lang="tr-TR" sz="2000" dirty="0" err="1">
                <a:latin typeface="Times New Roman" panose="02020603050405020304"/>
                <a:ea typeface="+mn-lt"/>
                <a:cs typeface="+mn-lt"/>
              </a:rPr>
              <a:t>sports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 </a:t>
            </a:r>
            <a:r>
              <a:rPr lang="tr-TR" sz="2000" dirty="0" err="1">
                <a:latin typeface="Times New Roman" panose="02020603050405020304"/>
                <a:ea typeface="+mn-lt"/>
                <a:cs typeface="+mn-lt"/>
              </a:rPr>
              <a:t>scores</a:t>
            </a:r>
            <a:endParaRPr lang="tr-TR" sz="2000">
              <a:latin typeface="Times New Roman" panose="02020603050405020304"/>
              <a:cs typeface="Arial" panose="020B0604020202020204"/>
            </a:endParaRPr>
          </a:p>
          <a:p>
            <a:pPr marL="0" indent="0">
              <a:buNone/>
            </a:pPr>
            <a:r>
              <a:rPr lang="tr-TR" sz="2000" b="1" dirty="0">
                <a:latin typeface="Times New Roman" panose="02020603050405020304"/>
                <a:ea typeface="+mn-lt"/>
                <a:cs typeface="+mn-lt"/>
              </a:rPr>
              <a:t>       User </a:t>
            </a:r>
            <a:r>
              <a:rPr lang="tr-TR" sz="2000" b="1" dirty="0" err="1">
                <a:latin typeface="Times New Roman" panose="02020603050405020304"/>
                <a:ea typeface="+mn-lt"/>
                <a:cs typeface="+mn-lt"/>
              </a:rPr>
              <a:t>Features</a:t>
            </a:r>
            <a:r>
              <a:rPr lang="tr-TR" sz="2000" b="1" dirty="0">
                <a:latin typeface="Times New Roman" panose="02020603050405020304"/>
                <a:ea typeface="+mn-lt"/>
                <a:cs typeface="+mn-lt"/>
              </a:rPr>
              <a:t>:</a:t>
            </a:r>
            <a:endParaRPr lang="tr-TR" sz="2000">
              <a:latin typeface="Times New Roman" panose="02020603050405020304"/>
              <a:cs typeface="Arial" panose="020B0604020202020204"/>
            </a:endParaRPr>
          </a:p>
          <a:p>
            <a:r>
              <a:rPr lang="tr-TR" sz="2000" dirty="0" err="1">
                <a:latin typeface="Times New Roman" panose="02020603050405020304"/>
                <a:ea typeface="+mn-lt"/>
                <a:cs typeface="+mn-lt"/>
              </a:rPr>
              <a:t>Search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 bar </a:t>
            </a:r>
            <a:r>
              <a:rPr lang="tr-TR" sz="2000" dirty="0" err="1">
                <a:latin typeface="Times New Roman" panose="02020603050405020304"/>
                <a:ea typeface="+mn-lt"/>
                <a:cs typeface="+mn-lt"/>
              </a:rPr>
              <a:t>for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 </a:t>
            </a:r>
            <a:r>
              <a:rPr lang="tr-TR" sz="2000" dirty="0" err="1">
                <a:latin typeface="Times New Roman" panose="02020603050405020304"/>
                <a:ea typeface="+mn-lt"/>
                <a:cs typeface="+mn-lt"/>
              </a:rPr>
              <a:t>finding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 </a:t>
            </a:r>
            <a:r>
              <a:rPr lang="tr-TR" sz="2000" dirty="0" err="1">
                <a:latin typeface="Times New Roman" panose="02020603050405020304"/>
                <a:ea typeface="+mn-lt"/>
                <a:cs typeface="+mn-lt"/>
              </a:rPr>
              <a:t>content</a:t>
            </a:r>
            <a:endParaRPr lang="tr-TR" sz="2000">
              <a:latin typeface="Times New Roman" panose="02020603050405020304"/>
              <a:cs typeface="Arial" panose="020B0604020202020204"/>
            </a:endParaRPr>
          </a:p>
          <a:p>
            <a:r>
              <a:rPr lang="tr-TR" sz="2000" dirty="0" err="1">
                <a:latin typeface="Times New Roman" panose="02020603050405020304"/>
                <a:ea typeface="+mn-lt"/>
                <a:cs typeface="+mn-lt"/>
              </a:rPr>
              <a:t>Commenting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 </a:t>
            </a:r>
            <a:r>
              <a:rPr lang="tr-TR" sz="2000" dirty="0" err="1">
                <a:latin typeface="Times New Roman" panose="02020603050405020304"/>
                <a:ea typeface="+mn-lt"/>
                <a:cs typeface="+mn-lt"/>
              </a:rPr>
              <a:t>and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 </a:t>
            </a:r>
            <a:r>
              <a:rPr lang="tr-TR" sz="2000" dirty="0" err="1">
                <a:latin typeface="Times New Roman" panose="02020603050405020304"/>
                <a:ea typeface="+mn-lt"/>
                <a:cs typeface="+mn-lt"/>
              </a:rPr>
              <a:t>sharing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 </a:t>
            </a:r>
            <a:r>
              <a:rPr lang="tr-TR" sz="2000" dirty="0" err="1">
                <a:latin typeface="Times New Roman" panose="02020603050405020304"/>
                <a:ea typeface="+mn-lt"/>
                <a:cs typeface="+mn-lt"/>
              </a:rPr>
              <a:t>options</a:t>
            </a:r>
            <a:endParaRPr lang="tr-TR" sz="2000">
              <a:latin typeface="Times New Roman" panose="02020603050405020304"/>
              <a:cs typeface="Arial" panose="020B0604020202020204"/>
            </a:endParaRPr>
          </a:p>
          <a:p>
            <a:r>
              <a:rPr lang="tr-TR" sz="2000" dirty="0" err="1">
                <a:latin typeface="Times New Roman" panose="02020603050405020304"/>
                <a:ea typeface="+mn-lt"/>
                <a:cs typeface="+mn-lt"/>
              </a:rPr>
              <a:t>Adjustable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 </a:t>
            </a:r>
            <a:r>
              <a:rPr lang="tr-TR" sz="2000" b="1" dirty="0" err="1">
                <a:latin typeface="Times New Roman" panose="02020603050405020304"/>
                <a:ea typeface="+mn-lt"/>
                <a:cs typeface="+mn-lt"/>
              </a:rPr>
              <a:t>text</a:t>
            </a:r>
            <a:r>
              <a:rPr lang="tr-TR" sz="2000" b="1" dirty="0">
                <a:latin typeface="Times New Roman" panose="02020603050405020304"/>
                <a:ea typeface="+mn-lt"/>
                <a:cs typeface="+mn-lt"/>
              </a:rPr>
              <a:t> size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, </a:t>
            </a:r>
            <a:r>
              <a:rPr lang="tr-TR" sz="2000" b="1" dirty="0" err="1">
                <a:latin typeface="Times New Roman" panose="02020603050405020304"/>
                <a:ea typeface="+mn-lt"/>
                <a:cs typeface="+mn-lt"/>
              </a:rPr>
              <a:t>reading</a:t>
            </a:r>
            <a:r>
              <a:rPr lang="tr-TR" sz="2000" b="1" dirty="0">
                <a:latin typeface="Times New Roman" panose="02020603050405020304"/>
                <a:ea typeface="+mn-lt"/>
                <a:cs typeface="+mn-lt"/>
              </a:rPr>
              <a:t> </a:t>
            </a:r>
            <a:r>
              <a:rPr lang="tr-TR" sz="2000" b="1" dirty="0" err="1">
                <a:latin typeface="Times New Roman" panose="02020603050405020304"/>
                <a:ea typeface="+mn-lt"/>
                <a:cs typeface="+mn-lt"/>
              </a:rPr>
              <a:t>modes</a:t>
            </a:r>
            <a:r>
              <a:rPr lang="tr-TR" sz="2000" b="1" dirty="0">
                <a:latin typeface="Times New Roman" panose="02020603050405020304"/>
                <a:ea typeface="+mn-lt"/>
                <a:cs typeface="+mn-lt"/>
              </a:rPr>
              <a:t> (</a:t>
            </a:r>
            <a:r>
              <a:rPr lang="tr-TR" sz="2000" b="1" dirty="0" err="1">
                <a:latin typeface="Times New Roman" panose="02020603050405020304"/>
                <a:ea typeface="+mn-lt"/>
                <a:cs typeface="+mn-lt"/>
              </a:rPr>
              <a:t>light</a:t>
            </a:r>
            <a:r>
              <a:rPr lang="tr-TR" sz="2000" b="1" dirty="0">
                <a:latin typeface="Times New Roman" panose="02020603050405020304"/>
                <a:ea typeface="+mn-lt"/>
                <a:cs typeface="+mn-lt"/>
              </a:rPr>
              <a:t>/</a:t>
            </a:r>
            <a:r>
              <a:rPr lang="tr-TR" sz="2000" b="1" dirty="0" err="1">
                <a:latin typeface="Times New Roman" panose="02020603050405020304"/>
                <a:ea typeface="+mn-lt"/>
                <a:cs typeface="+mn-lt"/>
              </a:rPr>
              <a:t>dark</a:t>
            </a:r>
            <a:r>
              <a:rPr lang="tr-TR" sz="2000" b="1" dirty="0">
                <a:latin typeface="Times New Roman" panose="02020603050405020304"/>
                <a:ea typeface="+mn-lt"/>
                <a:cs typeface="+mn-lt"/>
              </a:rPr>
              <a:t>)</a:t>
            </a:r>
            <a:endParaRPr lang="tr-TR" sz="2000">
              <a:latin typeface="Times New Roman" panose="02020603050405020304"/>
              <a:cs typeface="Arial" panose="020B0604020202020204"/>
            </a:endParaRPr>
          </a:p>
          <a:p>
            <a:r>
              <a:rPr lang="tr-TR" sz="2000" dirty="0" err="1">
                <a:latin typeface="Times New Roman" panose="02020603050405020304"/>
                <a:ea typeface="+mn-lt"/>
                <a:cs typeface="+mn-lt"/>
              </a:rPr>
              <a:t>Responsive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 </a:t>
            </a:r>
            <a:r>
              <a:rPr lang="tr-TR" sz="2000" dirty="0" err="1">
                <a:latin typeface="Times New Roman" panose="02020603050405020304"/>
                <a:ea typeface="+mn-lt"/>
                <a:cs typeface="+mn-lt"/>
              </a:rPr>
              <a:t>design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 (</a:t>
            </a:r>
            <a:r>
              <a:rPr lang="tr-TR" sz="2000" dirty="0" err="1">
                <a:latin typeface="Times New Roman" panose="02020603050405020304"/>
                <a:ea typeface="+mn-lt"/>
                <a:cs typeface="+mn-lt"/>
              </a:rPr>
              <a:t>works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 on </a:t>
            </a:r>
            <a:r>
              <a:rPr lang="tr-TR" sz="2000" dirty="0" err="1">
                <a:latin typeface="Times New Roman" panose="02020603050405020304"/>
                <a:ea typeface="+mn-lt"/>
                <a:cs typeface="+mn-lt"/>
              </a:rPr>
              <a:t>different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 </a:t>
            </a:r>
            <a:r>
              <a:rPr lang="tr-TR" sz="2000" dirty="0" err="1">
                <a:latin typeface="Times New Roman" panose="02020603050405020304"/>
                <a:ea typeface="+mn-lt"/>
                <a:cs typeface="+mn-lt"/>
              </a:rPr>
              <a:t>screen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 </a:t>
            </a:r>
            <a:r>
              <a:rPr lang="tr-TR" sz="2000" dirty="0" err="1">
                <a:latin typeface="Times New Roman" panose="02020603050405020304"/>
                <a:ea typeface="+mn-lt"/>
                <a:cs typeface="+mn-lt"/>
              </a:rPr>
              <a:t>sizes</a:t>
            </a:r>
            <a:r>
              <a:rPr lang="tr-TR" sz="2000" dirty="0">
                <a:latin typeface="Times New Roman" panose="02020603050405020304"/>
                <a:ea typeface="+mn-lt"/>
                <a:cs typeface="+mn-lt"/>
              </a:rPr>
              <a:t>)</a:t>
            </a:r>
            <a:endParaRPr lang="tr-TR" sz="2000">
              <a:latin typeface="Times New Roman" panose="02020603050405020304"/>
              <a:cs typeface="Arial" panose="020B0604020202020204"/>
            </a:endParaRPr>
          </a:p>
          <a:p>
            <a:endParaRPr lang="tr-TR" sz="2000" dirty="0">
              <a:latin typeface="Times New Roman" panose="020206030504050203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 lIns="91440" tIns="45720" rIns="91440" bIns="45720" anchor="ctr" anchorCtr="0">
            <a:normAutofit/>
          </a:bodyPr>
          <a:lstStyle/>
          <a:p>
            <a:r>
              <a:rPr lang="en-US" altLang="en-US" sz="3500" dirty="0">
                <a:latin typeface="Times New Roman" panose="02020603050405020304"/>
                <a:cs typeface="Times New Roman" panose="02020603050405020304"/>
              </a:rPr>
              <a:t>Overview of the Testing Strategy</a:t>
            </a:r>
            <a:endParaRPr lang="en-US" altLang="en-US" sz="35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76" y="2481943"/>
            <a:ext cx="7626096" cy="3695020"/>
          </a:xfrm>
        </p:spPr>
        <p:txBody>
          <a:bodyPr lIns="91440" tIns="45720" rIns="91440" bIns="45720"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altLang="en-US" sz="1500" dirty="0" smtClean="0">
                <a:latin typeface="Times New Roman" panose="02020603050405020304"/>
                <a:cs typeface="Times New Roman" panose="02020603050405020304"/>
              </a:rPr>
              <a:t>      </a:t>
            </a:r>
            <a:r>
              <a:rPr lang="en-US" altLang="en-US" sz="1500" dirty="0" smtClean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/>
                <a:cs typeface="Times New Roman" panose="02020603050405020304"/>
              </a:rPr>
              <a:t> Black-Box </a:t>
            </a:r>
            <a:r>
              <a:rPr lang="en-US" altLang="en-US" sz="15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/>
                <a:cs typeface="Times New Roman" panose="02020603050405020304"/>
              </a:rPr>
              <a:t>Testing:</a:t>
            </a:r>
            <a:endParaRPr lang="en-US" altLang="en-US" sz="1500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90000"/>
              </a:lnSpc>
            </a:pPr>
            <a:endParaRPr lang="en-US" altLang="en-US" sz="1500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90000"/>
              </a:lnSpc>
            </a:pPr>
            <a:r>
              <a:rPr lang="en-US" altLang="en-US" sz="1500" dirty="0">
                <a:latin typeface="Times New Roman" panose="02020603050405020304"/>
                <a:cs typeface="Times New Roman" panose="02020603050405020304"/>
              </a:rPr>
              <a:t>No access to source code; focuses on externally observable behavior.</a:t>
            </a:r>
            <a:endParaRPr lang="en-US" altLang="en-US" sz="1500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90000"/>
              </a:lnSpc>
            </a:pPr>
            <a:endParaRPr lang="en-US" altLang="en-US" sz="1500" dirty="0">
              <a:latin typeface="Times New Roman" panose="02020603050405020304"/>
              <a:cs typeface="Times New Roman" panose="02020603050405020304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500" dirty="0" smtClean="0">
                <a:latin typeface="Times New Roman" panose="02020603050405020304"/>
                <a:cs typeface="Times New Roman" panose="02020603050405020304"/>
              </a:rPr>
              <a:t>     </a:t>
            </a:r>
            <a:r>
              <a:rPr lang="en-US" altLang="en-US" sz="1500" dirty="0" smtClean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/>
                <a:cs typeface="Times New Roman" panose="02020603050405020304"/>
              </a:rPr>
              <a:t> Combination </a:t>
            </a:r>
            <a:r>
              <a:rPr lang="en-US" altLang="en-US" sz="15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/>
                <a:cs typeface="Times New Roman" panose="02020603050405020304"/>
              </a:rPr>
              <a:t>Approach:</a:t>
            </a:r>
            <a:endParaRPr lang="en-US" altLang="en-US" sz="1500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90000"/>
              </a:lnSpc>
            </a:pPr>
            <a:endParaRPr lang="en-US" altLang="en-US" sz="1500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90000"/>
              </a:lnSpc>
            </a:pPr>
            <a:r>
              <a:rPr lang="en-US" altLang="en-US" sz="1500" dirty="0">
                <a:latin typeface="Times New Roman" panose="02020603050405020304"/>
                <a:cs typeface="Times New Roman" panose="02020603050405020304"/>
              </a:rPr>
              <a:t>Automation Testing: Utilizes web-based tools for performance, accessibility, and more.</a:t>
            </a:r>
            <a:endParaRPr lang="en-US" altLang="en-US" sz="1500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90000"/>
              </a:lnSpc>
            </a:pPr>
            <a:endParaRPr lang="en-US" altLang="en-US" sz="1500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90000"/>
              </a:lnSpc>
            </a:pPr>
            <a:r>
              <a:rPr lang="en-US" altLang="en-US" sz="1500" dirty="0">
                <a:latin typeface="Times New Roman" panose="02020603050405020304"/>
                <a:cs typeface="Times New Roman" panose="02020603050405020304"/>
              </a:rPr>
              <a:t>Manual Testing: Ensures real-world user interactions and nuanced assessments.</a:t>
            </a:r>
            <a:endParaRPr lang="en-US" altLang="en-US" sz="1500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90000"/>
              </a:lnSpc>
            </a:pPr>
            <a:endParaRPr lang="en-US" altLang="en-US" sz="1500" dirty="0">
              <a:latin typeface="Times New Roman" panose="02020603050405020304"/>
              <a:cs typeface="Times New Roman" panose="02020603050405020304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500" dirty="0" smtClean="0">
                <a:latin typeface="Times New Roman" panose="02020603050405020304"/>
                <a:cs typeface="Times New Roman" panose="02020603050405020304"/>
              </a:rPr>
              <a:t>       </a:t>
            </a:r>
            <a:endParaRPr lang="en-US" altLang="en-US" sz="150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altLang="en-US" sz="3700">
                <a:solidFill>
                  <a:srgbClr val="FFFFFF"/>
                </a:solidFill>
                <a:sym typeface="+mn-ea"/>
              </a:rPr>
              <a:t>Testing Procedure </a:t>
            </a:r>
            <a:endParaRPr lang="en-US" sz="3700">
              <a:solidFill>
                <a:srgbClr val="FFFFFF"/>
              </a:solidFill>
            </a:endParaRPr>
          </a:p>
        </p:txBody>
      </p:sp>
      <p:sp>
        <p:nvSpPr>
          <p:cNvPr id="20" name="Arc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lIns="91440" tIns="45720" rIns="91440" bIns="45720"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en-US" altLang="en-US" sz="1500" dirty="0">
              <a:latin typeface="Times New Roman" panose="02020603050405020304"/>
              <a:cs typeface="Times New Roman" panose="02020603050405020304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500" dirty="0">
                <a:latin typeface="Times New Roman" panose="02020603050405020304"/>
                <a:cs typeface="Times New Roman" panose="02020603050405020304"/>
              </a:rPr>
              <a:t>        </a:t>
            </a:r>
            <a:r>
              <a:rPr lang="en-US" altLang="en-US" sz="1500" dirty="0" smtClean="0">
                <a:latin typeface="Times New Roman" panose="02020603050405020304"/>
                <a:cs typeface="Times New Roman" panose="02020603050405020304"/>
              </a:rPr>
              <a:t>1: </a:t>
            </a:r>
            <a:r>
              <a:rPr lang="en-US" altLang="en-US" sz="1500" dirty="0" smtClean="0"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Selection </a:t>
            </a:r>
            <a:r>
              <a:rPr lang="en-US" altLang="en-US" sz="1500" dirty="0"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of Testing Tools:</a:t>
            </a:r>
            <a:endParaRPr lang="en-US" altLang="en-US" sz="1500" dirty="0">
              <a:effectLst>
                <a:outerShdw blurRad="38100" dist="19050" dir="2700000" algn="tl" rotWithShape="0">
                  <a:srgbClr val="000000">
                    <a:alpha val="40000"/>
                  </a:srgbClr>
                </a:outerShdw>
              </a:effectLst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90000"/>
              </a:lnSpc>
            </a:pPr>
            <a:endParaRPr lang="en-US" altLang="en-US" sz="1500" dirty="0">
              <a:effectLst>
                <a:outerShdw blurRad="38100" dist="19050" dir="2700000" algn="tl" rotWithShape="0">
                  <a:srgbClr val="000000">
                    <a:alpha val="40000"/>
                  </a:srgbClr>
                </a:outerShdw>
              </a:effectLst>
              <a:latin typeface="Times New Roman" panose="02020603050405020304"/>
              <a:cs typeface="Arial" panose="020B0604020202020204"/>
            </a:endParaRPr>
          </a:p>
          <a:p>
            <a:pPr>
              <a:lnSpc>
                <a:spcPct val="90000"/>
              </a:lnSpc>
            </a:pPr>
            <a:r>
              <a:rPr lang="en-US" altLang="en-US" sz="1500" dirty="0"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Identify and select the most appropriate tools (e.g., </a:t>
            </a:r>
            <a:r>
              <a:rPr lang="en-US" altLang="en-US" sz="1500" dirty="0" err="1"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GTmetrix</a:t>
            </a:r>
            <a:r>
              <a:rPr lang="en-US" altLang="en-US" sz="1500" dirty="0"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, WAVE, </a:t>
            </a:r>
            <a:r>
              <a:rPr lang="en-US" altLang="en-US" sz="1500" dirty="0" err="1"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LambdaTest</a:t>
            </a:r>
            <a:r>
              <a:rPr lang="en-US" altLang="en-US" sz="1500" dirty="0"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) for each test type.</a:t>
            </a:r>
            <a:endParaRPr lang="en-US" altLang="en-US" sz="1500" dirty="0">
              <a:effectLst>
                <a:outerShdw blurRad="38100" dist="19050" dir="2700000" algn="tl" rotWithShape="0">
                  <a:srgbClr val="000000">
                    <a:alpha val="40000"/>
                  </a:srgbClr>
                </a:outerShdw>
              </a:effectLst>
              <a:latin typeface="Times New Roman" panose="02020603050405020304"/>
              <a:cs typeface="Times New Roman" panose="02020603050405020304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en-US" sz="1500" dirty="0">
              <a:effectLst>
                <a:outerShdw blurRad="38100" dist="19050" dir="2700000" algn="tl" rotWithShape="0">
                  <a:srgbClr val="000000">
                    <a:alpha val="40000"/>
                  </a:srgbClr>
                </a:outerShdw>
              </a:effectLst>
              <a:latin typeface="Times New Roman" panose="02020603050405020304"/>
              <a:cs typeface="Arial" panose="020B0604020202020204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500" dirty="0"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       </a:t>
            </a:r>
            <a:r>
              <a:rPr lang="en-US" altLang="en-US" sz="1500" dirty="0" smtClean="0"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2: Execution </a:t>
            </a:r>
            <a:r>
              <a:rPr lang="en-US" altLang="en-US" sz="1500" dirty="0"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of Tests:</a:t>
            </a:r>
            <a:endParaRPr lang="en-US" altLang="en-US" sz="1500" dirty="0">
              <a:effectLst>
                <a:outerShdw blurRad="38100" dist="19050" dir="2700000" algn="tl" rotWithShape="0">
                  <a:srgbClr val="000000">
                    <a:alpha val="40000"/>
                  </a:srgbClr>
                </a:outerShdw>
              </a:effectLst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90000"/>
              </a:lnSpc>
            </a:pPr>
            <a:endParaRPr lang="en-US" altLang="en-US" sz="1500" dirty="0">
              <a:effectLst>
                <a:outerShdw blurRad="38100" dist="19050" dir="2700000" algn="tl" rotWithShape="0">
                  <a:srgbClr val="000000">
                    <a:alpha val="40000"/>
                  </a:srgbClr>
                </a:outerShdw>
              </a:effectLst>
              <a:latin typeface="Times New Roman" panose="02020603050405020304"/>
              <a:cs typeface="Arial" panose="020B0604020202020204"/>
            </a:endParaRPr>
          </a:p>
          <a:p>
            <a:pPr>
              <a:lnSpc>
                <a:spcPct val="90000"/>
              </a:lnSpc>
            </a:pPr>
            <a:r>
              <a:rPr lang="en-US" altLang="en-US" sz="1500" dirty="0"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Perform both automation and manual testing to comprehensively evaluate functionality, usability, performance, security, and compatibility.</a:t>
            </a:r>
            <a:endParaRPr lang="en-US" altLang="en-US" sz="1500" dirty="0">
              <a:effectLst>
                <a:outerShdw blurRad="38100" dist="19050" dir="2700000" algn="tl" rotWithShape="0">
                  <a:srgbClr val="000000">
                    <a:alpha val="40000"/>
                  </a:srgbClr>
                </a:outerShdw>
              </a:effectLst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90000"/>
              </a:lnSpc>
            </a:pPr>
            <a:endParaRPr lang="en-US" altLang="en-US" sz="1500" dirty="0">
              <a:effectLst>
                <a:outerShdw blurRad="38100" dist="19050" dir="2700000" algn="tl" rotWithShape="0">
                  <a:srgbClr val="000000">
                    <a:alpha val="40000"/>
                  </a:srgbClr>
                </a:outerShdw>
              </a:effectLst>
              <a:latin typeface="Times New Roman" panose="02020603050405020304"/>
              <a:cs typeface="Arial" panose="020B0604020202020204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500" dirty="0"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       </a:t>
            </a:r>
            <a:r>
              <a:rPr lang="en-US" altLang="en-US" sz="1500" dirty="0" smtClean="0"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3: Result </a:t>
            </a:r>
            <a:r>
              <a:rPr lang="en-US" altLang="en-US" sz="1500" dirty="0"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Evaluation:</a:t>
            </a:r>
            <a:endParaRPr lang="en-US" altLang="en-US" sz="1500" dirty="0">
              <a:effectLst>
                <a:outerShdw blurRad="38100" dist="19050" dir="2700000" algn="tl" rotWithShape="0">
                  <a:srgbClr val="000000">
                    <a:alpha val="40000"/>
                  </a:srgbClr>
                </a:outerShdw>
              </a:effectLst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90000"/>
              </a:lnSpc>
            </a:pPr>
            <a:endParaRPr lang="en-US" altLang="en-US" sz="1500" dirty="0">
              <a:effectLst>
                <a:outerShdw blurRad="38100" dist="19050" dir="2700000" algn="tl" rotWithShape="0">
                  <a:srgbClr val="000000">
                    <a:alpha val="40000"/>
                  </a:srgbClr>
                </a:outerShdw>
              </a:effectLst>
              <a:latin typeface="Times New Roman" panose="02020603050405020304"/>
              <a:cs typeface="Arial" panose="020B0604020202020204"/>
            </a:endParaRPr>
          </a:p>
          <a:p>
            <a:pPr>
              <a:lnSpc>
                <a:spcPct val="90000"/>
              </a:lnSpc>
            </a:pPr>
            <a:r>
              <a:rPr lang="en-US" altLang="en-US" sz="1500" dirty="0"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Analyze data collected from each tool against industry benchmarks to identify strengths and weaknesses.</a:t>
            </a:r>
            <a:endParaRPr lang="en-US" altLang="en-US" sz="1500" dirty="0">
              <a:effectLst>
                <a:outerShdw blurRad="38100" dist="19050" dir="2700000" algn="tl" rotWithShape="0">
                  <a:srgbClr val="000000">
                    <a:alpha val="40000"/>
                  </a:srgbClr>
                </a:outerShdw>
              </a:effectLst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90000"/>
              </a:lnSpc>
            </a:pPr>
            <a:endParaRPr lang="en-US" altLang="en-US" sz="1500" dirty="0">
              <a:effectLst>
                <a:outerShdw blurRad="38100" dist="19050" dir="2700000" algn="tl" rotWithShape="0">
                  <a:srgbClr val="000000">
                    <a:alpha val="40000"/>
                  </a:srgbClr>
                </a:outerShdw>
              </a:effectLst>
              <a:latin typeface="Times New Roman" panose="02020603050405020304"/>
              <a:cs typeface="Arial" panose="020B0604020202020204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500" dirty="0"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       </a:t>
            </a:r>
            <a:r>
              <a:rPr lang="en-US" altLang="en-US" sz="1500" dirty="0" smtClean="0"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4: Recommendations </a:t>
            </a:r>
            <a:r>
              <a:rPr lang="en-US" altLang="en-US" sz="1500" dirty="0"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for Improvement:</a:t>
            </a:r>
            <a:endParaRPr lang="en-US" altLang="en-US" sz="1500" dirty="0">
              <a:effectLst>
                <a:outerShdw blurRad="38100" dist="19050" dir="2700000" algn="tl" rotWithShape="0">
                  <a:srgbClr val="000000">
                    <a:alpha val="40000"/>
                  </a:srgbClr>
                </a:outerShdw>
              </a:effectLst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90000"/>
              </a:lnSpc>
            </a:pPr>
            <a:endParaRPr lang="en-US" altLang="en-US" sz="1500" dirty="0">
              <a:effectLst>
                <a:outerShdw blurRad="38100" dist="19050" dir="2700000" algn="tl" rotWithShape="0">
                  <a:srgbClr val="000000">
                    <a:alpha val="40000"/>
                  </a:srgbClr>
                </a:outerShdw>
              </a:effectLst>
              <a:latin typeface="Times New Roman" panose="02020603050405020304"/>
              <a:cs typeface="Arial" panose="020B0604020202020204"/>
            </a:endParaRPr>
          </a:p>
          <a:p>
            <a:pPr>
              <a:lnSpc>
                <a:spcPct val="90000"/>
              </a:lnSpc>
            </a:pPr>
            <a:r>
              <a:rPr lang="en-US" altLang="en-US" sz="1500" dirty="0"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Develop actionable recommendations based on test outcomes to enhance overall website quality.</a:t>
            </a:r>
            <a:endParaRPr lang="en-US" altLang="en-US" sz="1500" dirty="0">
              <a:effectLst>
                <a:outerShdw blurRad="38100" dist="19050" dir="2700000" algn="tl" rotWithShape="0">
                  <a:srgbClr val="000000">
                    <a:alpha val="40000"/>
                  </a:srgbClr>
                </a:outerShdw>
              </a:effectLst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325369"/>
            <a:ext cx="3992801" cy="1956841"/>
          </a:xfrm>
        </p:spPr>
        <p:txBody>
          <a:bodyPr lIns="91440" tIns="45720" rIns="91440" bIns="45720" anchor="b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4000" dirty="0">
                <a:latin typeface="Times New Roman" panose="02020603050405020304"/>
                <a:cs typeface="Times New Roman" panose="02020603050405020304"/>
              </a:rPr>
              <a:t>Tests Performed So Far</a:t>
            </a:r>
            <a:endParaRPr lang="en-US" altLang="en-US" sz="40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9" name="sketchy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80060" y="2586994"/>
            <a:ext cx="2606040" cy="18288"/>
          </a:xfrm>
          <a:custGeom>
            <a:avLst/>
            <a:gdLst>
              <a:gd name="connsiteX0" fmla="*/ 0 w 2606040"/>
              <a:gd name="connsiteY0" fmla="*/ 0 h 18288"/>
              <a:gd name="connsiteX1" fmla="*/ 625450 w 2606040"/>
              <a:gd name="connsiteY1" fmla="*/ 0 h 18288"/>
              <a:gd name="connsiteX2" fmla="*/ 1224839 w 2606040"/>
              <a:gd name="connsiteY2" fmla="*/ 0 h 18288"/>
              <a:gd name="connsiteX3" fmla="*/ 1824228 w 2606040"/>
              <a:gd name="connsiteY3" fmla="*/ 0 h 18288"/>
              <a:gd name="connsiteX4" fmla="*/ 2606040 w 2606040"/>
              <a:gd name="connsiteY4" fmla="*/ 0 h 18288"/>
              <a:gd name="connsiteX5" fmla="*/ 2606040 w 2606040"/>
              <a:gd name="connsiteY5" fmla="*/ 18288 h 18288"/>
              <a:gd name="connsiteX6" fmla="*/ 1902409 w 2606040"/>
              <a:gd name="connsiteY6" fmla="*/ 18288 h 18288"/>
              <a:gd name="connsiteX7" fmla="*/ 1276960 w 2606040"/>
              <a:gd name="connsiteY7" fmla="*/ 18288 h 18288"/>
              <a:gd name="connsiteX8" fmla="*/ 677570 w 2606040"/>
              <a:gd name="connsiteY8" fmla="*/ 18288 h 18288"/>
              <a:gd name="connsiteX9" fmla="*/ 0 w 2606040"/>
              <a:gd name="connsiteY9" fmla="*/ 18288 h 18288"/>
              <a:gd name="connsiteX10" fmla="*/ 0 w 2606040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" y="2872899"/>
            <a:ext cx="3182691" cy="3320668"/>
          </a:xfrm>
        </p:spPr>
        <p:txBody>
          <a:bodyPr lIns="91440" tIns="45720" rIns="91440" bIns="45720" anchor="t">
            <a:normAutofit/>
          </a:bodyPr>
          <a:lstStyle/>
          <a:p>
            <a:pPr marL="0" indent="0">
              <a:buNone/>
            </a:pPr>
            <a:r>
              <a:rPr lang="en-GB" sz="1900" dirty="0">
                <a:latin typeface="Times New Roman" panose="02020603050405020304"/>
                <a:cs typeface="Arial" panose="020B0604020202020204"/>
              </a:rPr>
              <a:t>1.Performance Testing</a:t>
            </a:r>
            <a:endParaRPr lang="en-GB" sz="1900" dirty="0">
              <a:latin typeface="Times New Roman" panose="02020603050405020304"/>
              <a:cs typeface="Arial" panose="020B0604020202020204"/>
            </a:endParaRPr>
          </a:p>
          <a:p>
            <a:pPr marL="0" indent="0">
              <a:buNone/>
            </a:pPr>
            <a:r>
              <a:rPr lang="en-GB" sz="1900" dirty="0">
                <a:latin typeface="Times New Roman" panose="02020603050405020304"/>
                <a:cs typeface="Arial" panose="020B0604020202020204"/>
              </a:rPr>
              <a:t>2. Accessibility Testing</a:t>
            </a:r>
            <a:endParaRPr lang="en-GB" sz="1900" dirty="0">
              <a:latin typeface="Times New Roman" panose="02020603050405020304"/>
              <a:cs typeface="Arial" panose="020B0604020202020204"/>
            </a:endParaRPr>
          </a:p>
          <a:p>
            <a:pPr marL="0" indent="0">
              <a:buNone/>
            </a:pPr>
            <a:r>
              <a:rPr lang="en-GB" sz="1900" dirty="0">
                <a:latin typeface="Times New Roman" panose="02020603050405020304"/>
                <a:cs typeface="Arial" panose="020B0604020202020204"/>
              </a:rPr>
              <a:t>3.Cross-Browser Testing</a:t>
            </a:r>
            <a:endParaRPr lang="en-GB" sz="1900" dirty="0">
              <a:latin typeface="Times New Roman" panose="02020603050405020304"/>
              <a:cs typeface="Arial" panose="020B0604020202020204"/>
            </a:endParaRPr>
          </a:p>
          <a:p>
            <a:pPr marL="0" indent="0">
              <a:buNone/>
            </a:pPr>
            <a:r>
              <a:rPr lang="en-GB" sz="1900" dirty="0">
                <a:latin typeface="Times New Roman" panose="02020603050405020304"/>
                <a:cs typeface="Arial" panose="020B0604020202020204"/>
              </a:rPr>
              <a:t>4.Mobile Responsiveness Testing</a:t>
            </a:r>
            <a:endParaRPr lang="en-GB" sz="1900" dirty="0">
              <a:latin typeface="Times New Roman" panose="02020603050405020304"/>
              <a:cs typeface="Arial" panose="020B0604020202020204"/>
            </a:endParaRPr>
          </a:p>
          <a:p>
            <a:pPr marL="0" indent="0">
              <a:buNone/>
            </a:pPr>
            <a:endParaRPr lang="en-GB" sz="1900" dirty="0">
              <a:latin typeface="Times New Roman" panose="02020603050405020304"/>
              <a:cs typeface="Arial" panose="020B0604020202020204"/>
            </a:endParaRPr>
          </a:p>
          <a:p>
            <a:pPr marL="0" indent="0">
              <a:buNone/>
            </a:pPr>
            <a:endParaRPr lang="en-GB" sz="1900" dirty="0">
              <a:latin typeface="Times New Roman" panose="02020603050405020304"/>
              <a:cs typeface="Arial" panose="020B0604020202020204"/>
            </a:endParaRPr>
          </a:p>
          <a:p>
            <a:pPr>
              <a:buFont typeface="Wingdings" panose="05000000000000000000"/>
              <a:buChar char="§"/>
            </a:pPr>
            <a:endParaRPr lang="en-US" altLang="en-US" sz="1900" dirty="0">
              <a:latin typeface="Times New Roman" panose="02020603050405020304"/>
              <a:cs typeface="Arial" panose="020B0604020202020204"/>
            </a:endParaRPr>
          </a:p>
          <a:p>
            <a:pPr>
              <a:buFont typeface="Wingdings" panose="05000000000000000000"/>
              <a:buChar char="§"/>
            </a:pPr>
            <a:endParaRPr lang="en-US" altLang="en-US" sz="1900" dirty="0">
              <a:latin typeface="Times New Roman" panose="02020603050405020304"/>
              <a:cs typeface="Arial" panose="020B0604020202020204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1"/>
          <a:srcRect l="27081" r="33249" b="6250"/>
          <a:stretch>
            <a:fillRect/>
          </a:stretch>
        </p:blipFill>
        <p:spPr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050" y="1128094"/>
            <a:ext cx="2575635" cy="1415270"/>
          </a:xfrm>
        </p:spPr>
        <p:txBody>
          <a:bodyPr lIns="91440" tIns="45720" rIns="91440" bIns="45720" anchor="t" anchorCtr="0">
            <a:normAutofit/>
          </a:bodyPr>
          <a:lstStyle/>
          <a:p>
            <a:r>
              <a:rPr lang="en-GB" sz="2800" dirty="0">
                <a:latin typeface="Times New Roman" panose="02020603050405020304"/>
                <a:cs typeface="Arial" panose="020B0604020202020204"/>
              </a:rPr>
              <a:t>1.Performance Testing</a:t>
            </a:r>
            <a:endParaRPr lang="en-GB" sz="2800" dirty="0">
              <a:latin typeface="Times New Roman" panose="02020603050405020304"/>
              <a:cs typeface="Arial" panose="020B0604020202020204"/>
            </a:endParaRPr>
          </a:p>
        </p:txBody>
      </p:sp>
      <p:sp>
        <p:nvSpPr>
          <p:cNvPr id="56" name="Rectangle 5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5682342" cy="6858000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Picture"/>
          <p:cNvPicPr>
            <a:picLocks noChangeAspect="1"/>
          </p:cNvPicPr>
          <p:nvPr/>
        </p:nvPicPr>
        <p:blipFill>
          <a:blip r:embed="rId1"/>
          <a:srcRect l="1691" r="2415" b="14628"/>
          <a:stretch>
            <a:fillRect/>
          </a:stretch>
        </p:blipFill>
        <p:spPr>
          <a:xfrm>
            <a:off x="312304" y="822576"/>
            <a:ext cx="5045665" cy="3093642"/>
          </a:xfrm>
          <a:prstGeom prst="rect">
            <a:avLst/>
          </a:prstGeom>
        </p:spPr>
      </p:pic>
      <p:cxnSp>
        <p:nvCxnSpPr>
          <p:cNvPr id="57" name="Straight Connector 56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6149542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0" name="Content Placeholder 2"/>
          <p:cNvGraphicFramePr>
            <a:graphicFrameLocks noGrp="1"/>
          </p:cNvGraphicFramePr>
          <p:nvPr>
            <p:ph idx="1"/>
          </p:nvPr>
        </p:nvGraphicFramePr>
        <p:xfrm>
          <a:off x="5672598" y="2543364"/>
          <a:ext cx="3460538" cy="38623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lIns="91440" tIns="45720" rIns="91440" bIns="45720" anchor="ctr" anchorCtr="0">
            <a:normAutofit/>
          </a:bodyPr>
          <a:lstStyle/>
          <a:p>
            <a:r>
              <a:rPr lang="en-GB" sz="2400" dirty="0">
                <a:latin typeface="Times New Roman" panose="02020603050405020304"/>
                <a:cs typeface="Arial" panose="020B0604020202020204"/>
              </a:rPr>
              <a:t>2. Accessibility Testing</a:t>
            </a:r>
            <a:endParaRPr lang="en-GB" sz="2800">
              <a:latin typeface="Times New Roman" panose="02020603050405020304"/>
              <a:cs typeface="Arial" panose="020B0604020202020204"/>
            </a:endParaRPr>
          </a:p>
        </p:txBody>
      </p:sp>
      <p:pic>
        <p:nvPicPr>
          <p:cNvPr id="5" name="Picture 4" descr="Picture"/>
          <p:cNvPicPr>
            <a:picLocks noChangeAspect="1"/>
          </p:cNvPicPr>
          <p:nvPr/>
        </p:nvPicPr>
        <p:blipFill>
          <a:blip r:embed="rId1"/>
          <a:srcRect t="5823" b="4000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7986" y="4047817"/>
            <a:ext cx="5614060" cy="2157720"/>
          </a:xfrm>
        </p:spPr>
        <p:txBody>
          <a:bodyPr lIns="91440" tIns="45720" rIns="91440" bIns="45720" anchor="ctr"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GB" sz="1600" dirty="0">
                <a:latin typeface="Times New Roman" panose="02020603050405020304"/>
                <a:cs typeface="Arial" panose="020B0604020202020204"/>
              </a:rPr>
              <a:t>The testing was evaluated using WAVE</a:t>
            </a:r>
            <a:endParaRPr lang="en-GB" sz="1600" dirty="0">
              <a:latin typeface="Times New Roman" panose="02020603050405020304"/>
              <a:cs typeface="Arial" panose="020B0604020202020204"/>
            </a:endParaRPr>
          </a:p>
          <a:p>
            <a:pPr>
              <a:lnSpc>
                <a:spcPct val="90000"/>
              </a:lnSpc>
            </a:pPr>
            <a:r>
              <a:rPr lang="en-GB" sz="1600" dirty="0">
                <a:latin typeface="Times New Roman" panose="02020603050405020304"/>
                <a:cs typeface="Arial" panose="020B0604020202020204"/>
              </a:rPr>
              <a:t>Reported 27 accessibility errors, 41 </a:t>
            </a:r>
            <a:r>
              <a:rPr lang="en-GB" sz="1600" err="1">
                <a:latin typeface="Times New Roman" panose="02020603050405020304"/>
                <a:cs typeface="Arial" panose="020B0604020202020204"/>
              </a:rPr>
              <a:t>constrast</a:t>
            </a:r>
            <a:r>
              <a:rPr lang="en-GB" sz="1600" dirty="0">
                <a:latin typeface="Times New Roman" panose="02020603050405020304"/>
                <a:cs typeface="Arial" panose="020B0604020202020204"/>
              </a:rPr>
              <a:t> errors and 30 alerts</a:t>
            </a:r>
            <a:endParaRPr lang="en-GB" sz="1600" dirty="0">
              <a:latin typeface="Times New Roman" panose="02020603050405020304"/>
              <a:cs typeface="Arial" panose="020B0604020202020204"/>
            </a:endParaRPr>
          </a:p>
          <a:p>
            <a:pPr>
              <a:lnSpc>
                <a:spcPct val="90000"/>
              </a:lnSpc>
            </a:pPr>
            <a:r>
              <a:rPr lang="en-US" sz="1600" dirty="0">
                <a:latin typeface="Times New Roman" panose="02020603050405020304"/>
                <a:cs typeface="Times New Roman" panose="02020603050405020304"/>
              </a:rPr>
              <a:t> 82 accessibility feature</a:t>
            </a:r>
            <a:r>
              <a:rPr lang="en-GB" sz="1600" dirty="0">
                <a:latin typeface="Times New Roman" panose="02020603050405020304"/>
                <a:cs typeface="Arial" panose="020B0604020202020204"/>
              </a:rPr>
              <a:t>, along with 119 structural elements and 77 ARIA labels positive </a:t>
            </a:r>
            <a:endParaRPr lang="en-GB" sz="1600" dirty="0">
              <a:latin typeface="Times New Roman" panose="02020603050405020304"/>
              <a:cs typeface="Arial" panose="020B0604020202020204"/>
            </a:endParaRPr>
          </a:p>
          <a:p>
            <a:pPr>
              <a:lnSpc>
                <a:spcPct val="90000"/>
              </a:lnSpc>
            </a:pPr>
            <a:r>
              <a:rPr lang="en-GB" sz="1600" dirty="0">
                <a:latin typeface="Times New Roman" panose="02020603050405020304"/>
                <a:cs typeface="Times New Roman" panose="02020603050405020304"/>
              </a:rPr>
              <a:t>Include missing alternative text for images, </a:t>
            </a:r>
            <a:r>
              <a:rPr lang="en-GB" sz="1600" err="1">
                <a:latin typeface="Times New Roman" panose="02020603050405020304"/>
                <a:cs typeface="Times New Roman" panose="02020603050405020304"/>
              </a:rPr>
              <a:t>unlabeled</a:t>
            </a:r>
            <a:r>
              <a:rPr lang="en-GB" sz="1600" dirty="0">
                <a:latin typeface="Times New Roman" panose="02020603050405020304"/>
                <a:cs typeface="Times New Roman" panose="02020603050405020304"/>
              </a:rPr>
              <a:t> buttons or form elements</a:t>
            </a:r>
            <a:endParaRPr lang="en-GB" sz="1600">
              <a:latin typeface="Times New Roman" panose="02020603050405020304"/>
              <a:cs typeface="Arial" panose="020B0604020202020204"/>
            </a:endParaRPr>
          </a:p>
          <a:p>
            <a:pPr>
              <a:lnSpc>
                <a:spcPct val="90000"/>
              </a:lnSpc>
            </a:pPr>
            <a:r>
              <a:rPr lang="en-US" sz="1600" dirty="0">
                <a:latin typeface="Times New Roman" panose="02020603050405020304"/>
                <a:cs typeface="Times New Roman" panose="02020603050405020304"/>
              </a:rPr>
              <a:t>poor color contrast ratios</a:t>
            </a:r>
            <a:endParaRPr lang="en-GB" sz="1600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90000"/>
              </a:lnSpc>
            </a:pPr>
            <a:r>
              <a:rPr lang="en-US" sz="1600" dirty="0">
                <a:latin typeface="Times New Roman" panose="02020603050405020304"/>
                <a:cs typeface="Times New Roman" panose="02020603050405020304"/>
              </a:rPr>
              <a:t>challenging for people relying on screen readers</a:t>
            </a:r>
            <a:endParaRPr lang="en-US" sz="1600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90000"/>
              </a:lnSpc>
            </a:pPr>
            <a:endParaRPr lang="en-GB" sz="1600" dirty="0">
              <a:latin typeface="Times New Roman" panose="020206030504050203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23830" y="3710711"/>
            <a:ext cx="3943002" cy="2494825"/>
          </a:xfrm>
        </p:spPr>
        <p:txBody>
          <a:bodyPr lIns="91440" tIns="45720" rIns="91440" bIns="45720" anchor="ctr" anchorCtr="0">
            <a:normAutofit/>
          </a:bodyPr>
          <a:lstStyle/>
          <a:p>
            <a:r>
              <a:rPr lang="en-GB" sz="3100">
                <a:cs typeface="Arial" panose="020B0604020202020204"/>
              </a:rPr>
              <a:t>3.Cross-Browser Testing</a:t>
            </a:r>
            <a:endParaRPr lang="en-GB" sz="3100"/>
          </a:p>
        </p:txBody>
      </p:sp>
      <p:pic>
        <p:nvPicPr>
          <p:cNvPr id="4" name="Picture 3" descr="Resim 2, Picture"/>
          <p:cNvPicPr>
            <a:picLocks noChangeAspect="1"/>
          </p:cNvPicPr>
          <p:nvPr/>
        </p:nvPicPr>
        <p:blipFill>
          <a:blip r:embed="rId1"/>
          <a:srcRect t="14610" b="22476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lIns="91440" tIns="45720" rIns="91440" bIns="45720" anchor="ctr">
            <a:normAutofit/>
          </a:bodyPr>
          <a:lstStyle/>
          <a:p>
            <a:pPr>
              <a:buFont typeface="Arial" panose="020B0604020202020204"/>
              <a:buChar char="•"/>
            </a:pPr>
            <a:r>
              <a:rPr lang="en-GB" sz="1600" dirty="0">
                <a:cs typeface="Arial" panose="020B0604020202020204"/>
              </a:rPr>
              <a:t>The testing was evaluated using Lamda Test</a:t>
            </a:r>
            <a:endParaRPr lang="en-US" sz="1600" dirty="0">
              <a:cs typeface="Arial" panose="020B0604020202020204"/>
            </a:endParaRPr>
          </a:p>
          <a:p>
            <a:pPr>
              <a:buFont typeface="Arial" panose="020B0604020202020204"/>
              <a:buChar char="•"/>
            </a:pPr>
            <a:r>
              <a:rPr lang="en-GB" sz="1600" dirty="0">
                <a:cs typeface="Arial" panose="020B0604020202020204"/>
              </a:rPr>
              <a:t>Tested on:</a:t>
            </a:r>
            <a:endParaRPr lang="en-GB" sz="1600" dirty="0">
              <a:cs typeface="Arial" panose="020B0604020202020204"/>
            </a:endParaRPr>
          </a:p>
          <a:p>
            <a:pPr lvl="1">
              <a:buFont typeface="Arial" panose="020B0604020202020204"/>
              <a:buChar char="–"/>
            </a:pPr>
            <a:r>
              <a:rPr lang="en-GB" sz="1600" dirty="0">
                <a:cs typeface="Arial" panose="020B0604020202020204"/>
              </a:rPr>
              <a:t>Windows 11 (Google Chrome)</a:t>
            </a:r>
            <a:endParaRPr lang="en-GB" sz="1600" dirty="0">
              <a:cs typeface="Arial" panose="020B0604020202020204"/>
            </a:endParaRPr>
          </a:p>
          <a:p>
            <a:pPr lvl="1">
              <a:buFont typeface="Arial" panose="020B0604020202020204"/>
              <a:buChar char="–"/>
            </a:pPr>
            <a:r>
              <a:rPr lang="en-GB" sz="1600" dirty="0" err="1">
                <a:cs typeface="Arial" panose="020B0604020202020204"/>
              </a:rPr>
              <a:t>MacOs</a:t>
            </a:r>
            <a:r>
              <a:rPr lang="en-GB" sz="1600" dirty="0">
                <a:cs typeface="Arial" panose="020B0604020202020204"/>
              </a:rPr>
              <a:t> Sequoia (Safari)</a:t>
            </a:r>
            <a:endParaRPr lang="en-GB" sz="1600" dirty="0">
              <a:ea typeface="+mn-lt"/>
              <a:cs typeface="+mn-lt"/>
            </a:endParaRPr>
          </a:p>
          <a:p>
            <a:pPr lvl="1">
              <a:buFont typeface="Arial" panose="020B0604020202020204"/>
              <a:buChar char="–"/>
            </a:pPr>
            <a:r>
              <a:rPr lang="en-GB" sz="1600" dirty="0">
                <a:ea typeface="+mn-lt"/>
                <a:cs typeface="+mn-lt"/>
              </a:rPr>
              <a:t>Linx </a:t>
            </a:r>
            <a:endParaRPr lang="en-GB" sz="1600" dirty="0">
              <a:ea typeface="+mn-lt"/>
              <a:cs typeface="+mn-lt"/>
            </a:endParaRPr>
          </a:p>
          <a:p>
            <a:pPr lvl="2">
              <a:buFont typeface="Wingdings" panose="05000000000000000000"/>
              <a:buChar char="§"/>
            </a:pPr>
            <a:r>
              <a:rPr lang="en-GB" sz="1600" dirty="0">
                <a:ea typeface="+mn-lt"/>
                <a:cs typeface="+mn-lt"/>
              </a:rPr>
              <a:t>The results demonstrated  layout and features worked the same on all the tested browsers.</a:t>
            </a:r>
            <a:endParaRPr lang="en-GB" sz="1600" dirty="0">
              <a:cs typeface="Arial" panose="020B0604020202020204"/>
            </a:endParaRPr>
          </a:p>
          <a:p>
            <a:pPr marL="457200" lvl="1" indent="0">
              <a:buNone/>
            </a:pPr>
            <a:endParaRPr lang="en-GB" sz="1600"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3938487" cy="1807305"/>
          </a:xfrm>
        </p:spPr>
        <p:txBody>
          <a:bodyPr lIns="91440" tIns="45720" rIns="91440" bIns="45720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700" dirty="0">
                <a:latin typeface="Times New Roman" panose="02020603050405020304"/>
                <a:cs typeface="Arial" panose="020B0604020202020204"/>
              </a:rPr>
              <a:t>4.Mobile Responsiveness Testing</a:t>
            </a:r>
            <a:endParaRPr lang="en-GB" sz="3700" dirty="0">
              <a:latin typeface="Times New Roman" panose="02020603050405020304"/>
              <a:cs typeface="Arial" panose="020B060402020202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333297"/>
            <a:ext cx="4128077" cy="3843666"/>
          </a:xfrm>
        </p:spPr>
        <p:txBody>
          <a:bodyPr lIns="91440" tIns="45720" rIns="91440" bIns="45720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1700" dirty="0">
                <a:cs typeface="Arial" panose="020B0604020202020204"/>
              </a:rPr>
              <a:t>The testing was evaluated using multiple devices such as:</a:t>
            </a:r>
            <a:endParaRPr lang="en-GB" sz="1700" dirty="0">
              <a:cs typeface="Arial" panose="020B0604020202020204"/>
            </a:endParaRPr>
          </a:p>
          <a:p>
            <a:pPr lvl="1">
              <a:lnSpc>
                <a:spcPct val="90000"/>
              </a:lnSpc>
              <a:buFont typeface="Courier New" panose="02070309020205020404"/>
              <a:buChar char="o"/>
            </a:pPr>
            <a:r>
              <a:rPr lang="en-GB" sz="1700" dirty="0">
                <a:cs typeface="Arial" panose="020B0604020202020204"/>
              </a:rPr>
              <a:t>IPhone 14pro</a:t>
            </a:r>
            <a:endParaRPr lang="en-GB" sz="1700" dirty="0">
              <a:cs typeface="Arial" panose="020B0604020202020204"/>
            </a:endParaRPr>
          </a:p>
          <a:p>
            <a:pPr lvl="1">
              <a:lnSpc>
                <a:spcPct val="90000"/>
              </a:lnSpc>
              <a:buFont typeface="Courier New" panose="02070309020205020404"/>
              <a:buChar char="o"/>
            </a:pPr>
            <a:r>
              <a:rPr lang="en-GB" sz="1700" dirty="0">
                <a:cs typeface="Arial" panose="020B0604020202020204"/>
              </a:rPr>
              <a:t>IPad Air</a:t>
            </a:r>
            <a:endParaRPr lang="en-GB" sz="1700" dirty="0">
              <a:cs typeface="Arial" panose="020B0604020202020204"/>
            </a:endParaRPr>
          </a:p>
          <a:p>
            <a:pPr lvl="1">
              <a:lnSpc>
                <a:spcPct val="90000"/>
              </a:lnSpc>
              <a:buFont typeface="Courier New" panose="02070309020205020404"/>
              <a:buChar char="o"/>
            </a:pPr>
            <a:r>
              <a:rPr lang="en-GB" sz="1700" dirty="0">
                <a:cs typeface="Arial" panose="020B0604020202020204"/>
              </a:rPr>
              <a:t>Samsung Galaxy s20</a:t>
            </a:r>
            <a:endParaRPr lang="en-GB" sz="1700" dirty="0">
              <a:cs typeface="Arial" panose="020B0604020202020204"/>
            </a:endParaRPr>
          </a:p>
          <a:p>
            <a:pPr lvl="1">
              <a:lnSpc>
                <a:spcPct val="90000"/>
              </a:lnSpc>
              <a:buFont typeface="Courier New" panose="02070309020205020404"/>
              <a:buChar char="o"/>
            </a:pPr>
            <a:r>
              <a:rPr lang="en-GB" sz="1700" dirty="0">
                <a:cs typeface="Arial" panose="020B0604020202020204"/>
              </a:rPr>
              <a:t>Chrome </a:t>
            </a:r>
            <a:endParaRPr lang="en-GB" sz="1700" dirty="0">
              <a:cs typeface="Arial" panose="020B0604020202020204"/>
            </a:endParaRPr>
          </a:p>
          <a:p>
            <a:pPr lvl="1">
              <a:lnSpc>
                <a:spcPct val="90000"/>
              </a:lnSpc>
              <a:buFont typeface="Courier New" panose="02070309020205020404"/>
              <a:buChar char="o"/>
            </a:pPr>
            <a:r>
              <a:rPr lang="en-GB" sz="1700" dirty="0">
                <a:cs typeface="Arial" panose="020B0604020202020204"/>
              </a:rPr>
              <a:t>And desktop screens</a:t>
            </a:r>
            <a:endParaRPr lang="en-GB" sz="1700" dirty="0">
              <a:cs typeface="Arial" panose="020B0604020202020204"/>
            </a:endParaRPr>
          </a:p>
          <a:p>
            <a:pPr lvl="2">
              <a:lnSpc>
                <a:spcPct val="90000"/>
              </a:lnSpc>
              <a:buFont typeface="Wingdings" panose="05000000000000000000"/>
              <a:buChar char="§"/>
            </a:pPr>
            <a:r>
              <a:rPr lang="en-GB" sz="1700" dirty="0">
                <a:cs typeface="Arial" panose="020B0604020202020204"/>
              </a:rPr>
              <a:t>Website content resized properly; navigation and UI components performed well across devices.</a:t>
            </a:r>
            <a:endParaRPr lang="en-GB" sz="1700" dirty="0">
              <a:cs typeface="Arial" panose="020B0604020202020204"/>
            </a:endParaRPr>
          </a:p>
          <a:p>
            <a:pPr lvl="2">
              <a:lnSpc>
                <a:spcPct val="90000"/>
              </a:lnSpc>
              <a:buFont typeface="Wingdings" panose="05000000000000000000"/>
              <a:buChar char="•"/>
            </a:pPr>
            <a:endParaRPr lang="en-GB" sz="1700" dirty="0">
              <a:cs typeface="Arial" panose="020B0604020202020204"/>
            </a:endParaRPr>
          </a:p>
          <a:p>
            <a:pPr lvl="2">
              <a:lnSpc>
                <a:spcPct val="90000"/>
              </a:lnSpc>
              <a:buFont typeface="Wingdings" panose="05000000000000000000"/>
              <a:buChar char="•"/>
            </a:pPr>
            <a:endParaRPr lang="en-GB" sz="1700" dirty="0">
              <a:cs typeface="Arial" panose="020B0604020202020204"/>
            </a:endParaRPr>
          </a:p>
          <a:p>
            <a:pPr lvl="2">
              <a:lnSpc>
                <a:spcPct val="90000"/>
              </a:lnSpc>
              <a:buFont typeface="Wingdings" panose="05000000000000000000"/>
              <a:buChar char="§"/>
            </a:pPr>
            <a:endParaRPr lang="en-GB" sz="1700" dirty="0">
              <a:cs typeface="Arial" panose="020B0604020202020204"/>
            </a:endParaRPr>
          </a:p>
          <a:p>
            <a:pPr lvl="2">
              <a:lnSpc>
                <a:spcPct val="90000"/>
              </a:lnSpc>
              <a:buFont typeface="Wingdings" panose="05000000000000000000"/>
              <a:buChar char="§"/>
            </a:pPr>
            <a:endParaRPr lang="en-GB" sz="1700" dirty="0">
              <a:cs typeface="Arial" panose="020B0604020202020204"/>
            </a:endParaRPr>
          </a:p>
        </p:txBody>
      </p:sp>
      <p:pic>
        <p:nvPicPr>
          <p:cNvPr id="4" name="Picture 3" descr="A screenshot of a music video&#10;&#10;AI-generated content may be incorrect."/>
          <p:cNvPicPr>
            <a:picLocks noChangeAspect="1"/>
          </p:cNvPicPr>
          <p:nvPr/>
        </p:nvPicPr>
        <p:blipFill>
          <a:blip r:embed="rId1"/>
          <a:srcRect l="21067" r="20897"/>
          <a:stretch>
            <a:fillRect/>
          </a:stretch>
        </p:blipFill>
        <p:spPr>
          <a:xfrm>
            <a:off x="4671911" y="10"/>
            <a:ext cx="4472089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336390"/>
            <a:ext cx="4616991" cy="1182927"/>
          </a:xfrm>
        </p:spPr>
        <p:txBody>
          <a:bodyPr lIns="91440" tIns="45720" rIns="91440" bIns="45720" anchor="b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800" dirty="0">
                <a:latin typeface="Times New Roman" panose="02020603050405020304"/>
                <a:cs typeface="Arial" panose="020B0604020202020204"/>
              </a:rPr>
              <a:t>Recommendations</a:t>
            </a:r>
            <a:endParaRPr lang="en-GB" sz="3800" dirty="0">
              <a:latin typeface="Times New Roman" panose="02020603050405020304"/>
              <a:cs typeface="Arial" panose="020B0604020202020204"/>
            </a:endParaRPr>
          </a:p>
          <a:p>
            <a:pPr>
              <a:lnSpc>
                <a:spcPct val="90000"/>
              </a:lnSpc>
            </a:pPr>
            <a:endParaRPr lang="en-GB" sz="3800" dirty="0">
              <a:latin typeface="Times New Roman" panose="02020603050405020304"/>
              <a:cs typeface="Arial" panose="020B0604020202020204"/>
            </a:endParaRPr>
          </a:p>
        </p:txBody>
      </p:sp>
      <p:cxnSp>
        <p:nvCxnSpPr>
          <p:cNvPr id="32" name="Straight Connector 31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0" y="806470"/>
            <a:ext cx="5927792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181450" y="2281066"/>
            <a:ext cx="6653459" cy="3892723"/>
          </a:xfr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1600" b="1" dirty="0">
                <a:solidFill>
                  <a:schemeClr val="tx1">
                    <a:alpha val="80000"/>
                  </a:schemeClr>
                </a:solidFill>
                <a:latin typeface="Times New Roman" panose="02020603050405020304"/>
                <a:ea typeface="+mn-lt"/>
                <a:cs typeface="+mn-lt"/>
              </a:rPr>
              <a:t>Performance Testing:</a:t>
            </a:r>
            <a:r>
              <a:rPr lang="en-GB" sz="1600" dirty="0">
                <a:solidFill>
                  <a:schemeClr val="tx1">
                    <a:alpha val="80000"/>
                  </a:schemeClr>
                </a:solidFill>
                <a:latin typeface="Times New Roman" panose="02020603050405020304"/>
                <a:ea typeface="+mn-lt"/>
                <a:cs typeface="+mn-lt"/>
              </a:rPr>
              <a:t> Speed up the website by setting exact sizes for pictures and ads, and combine files to reduce loading steps.</a:t>
            </a:r>
            <a:endParaRPr lang="en-GB" sz="1600" dirty="0">
              <a:solidFill>
                <a:schemeClr val="tx1">
                  <a:alpha val="80000"/>
                </a:schemeClr>
              </a:solidFill>
              <a:latin typeface="Times New Roman" panose="02020603050405020304"/>
              <a:cs typeface="Arial" panose="020B0604020202020204"/>
            </a:endParaRPr>
          </a:p>
          <a:p>
            <a:pPr>
              <a:lnSpc>
                <a:spcPct val="90000"/>
              </a:lnSpc>
            </a:pPr>
            <a:r>
              <a:rPr lang="en-GB" sz="1600" b="1" dirty="0">
                <a:solidFill>
                  <a:schemeClr val="tx1">
                    <a:alpha val="80000"/>
                  </a:schemeClr>
                </a:solidFill>
                <a:latin typeface="Times New Roman" panose="02020603050405020304"/>
                <a:ea typeface="+mn-lt"/>
                <a:cs typeface="+mn-lt"/>
              </a:rPr>
              <a:t>Accessibility Testing:</a:t>
            </a:r>
            <a:r>
              <a:rPr lang="en-GB" sz="1600" dirty="0">
                <a:solidFill>
                  <a:schemeClr val="tx1">
                    <a:alpha val="80000"/>
                  </a:schemeClr>
                </a:solidFill>
                <a:latin typeface="Times New Roman" panose="02020603050405020304"/>
                <a:ea typeface="+mn-lt"/>
                <a:cs typeface="+mn-lt"/>
              </a:rPr>
              <a:t> Fix missing labels and text for images, and make sure </a:t>
            </a:r>
            <a:r>
              <a:rPr lang="en-GB" sz="1600" dirty="0" err="1">
                <a:solidFill>
                  <a:schemeClr val="tx1">
                    <a:alpha val="80000"/>
                  </a:schemeClr>
                </a:solidFill>
                <a:latin typeface="Times New Roman" panose="02020603050405020304"/>
                <a:ea typeface="+mn-lt"/>
                <a:cs typeface="+mn-lt"/>
              </a:rPr>
              <a:t>colors</a:t>
            </a:r>
            <a:r>
              <a:rPr lang="en-GB" sz="1600" dirty="0">
                <a:solidFill>
                  <a:schemeClr val="tx1">
                    <a:alpha val="80000"/>
                  </a:schemeClr>
                </a:solidFill>
                <a:latin typeface="Times New Roman" panose="02020603050405020304"/>
                <a:ea typeface="+mn-lt"/>
                <a:cs typeface="+mn-lt"/>
              </a:rPr>
              <a:t> are easy to read so everyone can use it easily.</a:t>
            </a:r>
            <a:endParaRPr lang="en-GB" sz="1600" dirty="0">
              <a:solidFill>
                <a:schemeClr val="tx1">
                  <a:alpha val="80000"/>
                </a:schemeClr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90000"/>
              </a:lnSpc>
            </a:pPr>
            <a:r>
              <a:rPr lang="en-GB" sz="1600" b="1" dirty="0">
                <a:solidFill>
                  <a:schemeClr val="tx1">
                    <a:alpha val="80000"/>
                  </a:schemeClr>
                </a:solidFill>
                <a:latin typeface="Times New Roman" panose="02020603050405020304"/>
                <a:ea typeface="+mn-lt"/>
                <a:cs typeface="+mn-lt"/>
              </a:rPr>
              <a:t>Cross-Browser Testing:</a:t>
            </a:r>
            <a:r>
              <a:rPr lang="en-GB" sz="1600" dirty="0">
                <a:solidFill>
                  <a:schemeClr val="tx1">
                    <a:alpha val="80000"/>
                  </a:schemeClr>
                </a:solidFill>
                <a:latin typeface="Times New Roman" panose="02020603050405020304"/>
                <a:ea typeface="+mn-lt"/>
                <a:cs typeface="+mn-lt"/>
              </a:rPr>
              <a:t> Check older browsers like Safari 14 and adjust design code to make the site look good everywhere.</a:t>
            </a:r>
            <a:endParaRPr lang="en-GB" sz="1600" dirty="0">
              <a:solidFill>
                <a:schemeClr val="tx1">
                  <a:alpha val="80000"/>
                </a:schemeClr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90000"/>
              </a:lnSpc>
            </a:pPr>
            <a:r>
              <a:rPr lang="en-GB" sz="1600" b="1" dirty="0">
                <a:solidFill>
                  <a:schemeClr val="tx1">
                    <a:alpha val="80000"/>
                  </a:schemeClr>
                </a:solidFill>
                <a:latin typeface="Times New Roman" panose="02020603050405020304"/>
                <a:ea typeface="+mn-lt"/>
                <a:cs typeface="+mn-lt"/>
              </a:rPr>
              <a:t>Mobile Responsiveness:</a:t>
            </a:r>
            <a:r>
              <a:rPr lang="en-GB" sz="1600" dirty="0">
                <a:solidFill>
                  <a:schemeClr val="tx1">
                    <a:alpha val="80000"/>
                  </a:schemeClr>
                </a:solidFill>
                <a:latin typeface="Times New Roman" panose="02020603050405020304"/>
                <a:ea typeface="+mn-lt"/>
                <a:cs typeface="+mn-lt"/>
              </a:rPr>
              <a:t> Test new phones and tablets, and make buttons bigger and easier to tap to keep mobile experience smooth.</a:t>
            </a:r>
            <a:endParaRPr lang="en-GB" sz="1600" dirty="0">
              <a:solidFill>
                <a:schemeClr val="tx1">
                  <a:alpha val="80000"/>
                </a:schemeClr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90000"/>
              </a:lnSpc>
            </a:pPr>
            <a:endParaRPr lang="en-GB" sz="1600" dirty="0">
              <a:solidFill>
                <a:schemeClr val="tx1">
                  <a:alpha val="80000"/>
                </a:schemeClr>
              </a:solidFill>
              <a:latin typeface="Times New Roman" panose="02020603050405020304"/>
              <a:cs typeface="Arial" panose="020B0604020202020204"/>
            </a:endParaRPr>
          </a:p>
        </p:txBody>
      </p:sp>
      <p:pic>
        <p:nvPicPr>
          <p:cNvPr id="7" name="Graphic 6" descr="Filter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79489" y="2424435"/>
            <a:ext cx="2661303" cy="2661303"/>
          </a:xfrm>
          <a:prstGeom prst="rect">
            <a:avLst/>
          </a:prstGeom>
        </p:spPr>
      </p:pic>
      <p:sp>
        <p:nvSpPr>
          <p:cNvPr id="29" name="Graphic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193414" y="1899284"/>
            <a:ext cx="10427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Graphic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427646" y="2189928"/>
            <a:ext cx="68354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31BC7A6EEA5CF47B621A95B0FF88DD1" ma:contentTypeVersion="4" ma:contentTypeDescription="Create a new document." ma:contentTypeScope="" ma:versionID="7eafc0374425ac13678b8600f2618d3d">
  <xsd:schema xmlns:xsd="http://www.w3.org/2001/XMLSchema" xmlns:xs="http://www.w3.org/2001/XMLSchema" xmlns:p="http://schemas.microsoft.com/office/2006/metadata/properties" xmlns:ns2="8db9e870-fb55-47bf-82ec-2e28c67df3c1" targetNamespace="http://schemas.microsoft.com/office/2006/metadata/properties" ma:root="true" ma:fieldsID="f84b9157c6b24a9b107a62dbda3f797d" ns2:_="">
    <xsd:import namespace="8db9e870-fb55-47bf-82ec-2e28c67df3c1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b9e870-fb55-47bf-82ec-2e28c67df3c1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8db9e870-fb55-47bf-82ec-2e28c67df3c1" xsi:nil="true"/>
  </documentManagement>
</p:properties>
</file>

<file path=customXml/itemProps1.xml><?xml version="1.0" encoding="utf-8"?>
<ds:datastoreItem xmlns:ds="http://schemas.openxmlformats.org/officeDocument/2006/customXml" ds:itemID="{30BA29C6-E4C4-4659-A6B9-65ED89970F01}"/>
</file>

<file path=customXml/itemProps2.xml><?xml version="1.0" encoding="utf-8"?>
<ds:datastoreItem xmlns:ds="http://schemas.openxmlformats.org/officeDocument/2006/customXml" ds:itemID="{DD048931-8795-4D62-8DF5-58CE50CC5C42}">
  <ds:schemaRefs/>
</ds:datastoreItem>
</file>

<file path=customXml/itemProps3.xml><?xml version="1.0" encoding="utf-8"?>
<ds:datastoreItem xmlns:ds="http://schemas.openxmlformats.org/officeDocument/2006/customXml" ds:itemID="{5B2B3B78-7144-41EA-B1D3-CC813A376E68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4533</Words>
  <Application>WPS Slides</Application>
  <PresentationFormat>On-screen Show (4:3)</PresentationFormat>
  <Paragraphs>177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SimSun</vt:lpstr>
      <vt:lpstr>Wingdings</vt:lpstr>
      <vt:lpstr>Calibri</vt:lpstr>
      <vt:lpstr>Times New Roman</vt:lpstr>
      <vt:lpstr>Arial</vt:lpstr>
      <vt:lpstr>MS Mincho</vt:lpstr>
      <vt:lpstr>Segoe Print</vt:lpstr>
      <vt:lpstr>Wingdings</vt:lpstr>
      <vt:lpstr>Courier New</vt:lpstr>
      <vt:lpstr>Microsoft YaHei</vt:lpstr>
      <vt:lpstr>Arial Unicode MS</vt:lpstr>
      <vt:lpstr>Default Design</vt:lpstr>
      <vt:lpstr>    Quality Assessment of Kıbrıs Gazetesi Website</vt:lpstr>
      <vt:lpstr>Overview </vt:lpstr>
      <vt:lpstr>Introduction</vt:lpstr>
      <vt:lpstr>Team Roles &amp; Work Distribution</vt:lpstr>
      <vt:lpstr>Brief Information About Website</vt:lpstr>
      <vt:lpstr>Overview of the Testing Strategy</vt:lpstr>
      <vt:lpstr>Testing Procedure </vt:lpstr>
      <vt:lpstr>Tests Performed So Far</vt:lpstr>
      <vt:lpstr>1.Performance Testing</vt:lpstr>
      <vt:lpstr>2. Accessibility Testing</vt:lpstr>
      <vt:lpstr>3.Cross-Browser Testing</vt:lpstr>
      <vt:lpstr>4.Mobile Responsiveness Testing</vt:lpstr>
      <vt:lpstr>Recommendations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      Intermediate Project  Quality Assessment of Kıbrıs Gazetesi Website</dc:title>
  <dc:creator>User</dc:creator>
  <cp:lastModifiedBy>User</cp:lastModifiedBy>
  <cp:revision>253</cp:revision>
  <dcterms:created xsi:type="dcterms:W3CDTF">2025-04-05T18:51:00Z</dcterms:created>
  <dcterms:modified xsi:type="dcterms:W3CDTF">2025-04-06T17:14:25Z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1033-12.2.0.20782</vt:lpwstr>
  </property>
  <property fmtid="{D5CDD505-2E9C-101B-9397-08002B2CF9AE}" pid="3" name="ICV">
    <vt:lpwstr>5DE67FAEC9044C13945F725AA8157E2F_12</vt:lpwstr>
  </property>
  <property fmtid="{D5CDD505-2E9C-101B-9397-08002B2CF9AE}" pid="4" name="ContentTypeId">
    <vt:lpwstr>0x010100A31BC7A6EEA5CF47B621A95B0FF88DD1</vt:lpwstr>
  </property>
</Properties>
</file>